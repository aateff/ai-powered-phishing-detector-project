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ora" charset="1" panose="00000500000000000000"/>
      <p:regular r:id="rId18"/>
    </p:embeddedFont>
    <p:embeddedFont>
      <p:font typeface="Source Sans 3" charset="1" panose="020B0303030403020204"/>
      <p:regular r:id="rId19"/>
    </p:embeddedFont>
    <p:embeddedFont>
      <p:font typeface="Source Sans 3 Bold" charset="1" panose="020B0303030403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16" Target="../media/image45.png" Type="http://schemas.openxmlformats.org/officeDocument/2006/relationships/image"/><Relationship Id="rId17" Target="../media/image46.svg" Type="http://schemas.openxmlformats.org/officeDocument/2006/relationships/image"/><Relationship Id="rId18" Target="../media/image47.png" Type="http://schemas.openxmlformats.org/officeDocument/2006/relationships/image"/><Relationship Id="rId19" Target="../media/image48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0" y="2134791"/>
            <a:ext cx="79550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PhishGuard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0" y="3444478"/>
            <a:ext cx="9335691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4"/>
              </a:lnSpc>
            </a:pPr>
            <a:r>
              <a:rPr lang="en-US" sz="76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AI-Powered Phishing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0" y="6274441"/>
            <a:ext cx="9335691" cy="185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 : </a:t>
            </a:r>
          </a:p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Malek Ammar - Atef Hammemi - Med Ali Ferchichi - Abdelhafidh Aoun - Ali Zrida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70018" y="-347010"/>
            <a:ext cx="7017982" cy="11165231"/>
            <a:chOff x="0" y="0"/>
            <a:chExt cx="9357309" cy="1488697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357309" cy="14886973"/>
            </a:xfrm>
            <a:custGeom>
              <a:avLst/>
              <a:gdLst/>
              <a:ahLst/>
              <a:cxnLst/>
              <a:rect r="r" b="b" t="t" l="l"/>
              <a:pathLst>
                <a:path h="14886973" w="9357309">
                  <a:moveTo>
                    <a:pt x="0" y="0"/>
                  </a:moveTo>
                  <a:lnTo>
                    <a:pt x="9357309" y="0"/>
                  </a:lnTo>
                  <a:lnTo>
                    <a:pt x="9357309" y="14886973"/>
                  </a:lnTo>
                  <a:lnTo>
                    <a:pt x="0" y="14886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31" t="0" r="-303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8191" y="858736"/>
            <a:ext cx="9433617" cy="169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Phishing Threat Is Growing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191" y="2886818"/>
            <a:ext cx="9433617" cy="141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Phishing remains the #1 attack vector — and AI is making it worse. Generative models now produce convincing, personalized lures at scale, bypassing traditional filters.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8191" y="4605042"/>
            <a:ext cx="4580934" cy="2488854"/>
            <a:chOff x="0" y="0"/>
            <a:chExt cx="6107913" cy="3318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7938" cy="3318510"/>
            </a:xfrm>
            <a:custGeom>
              <a:avLst/>
              <a:gdLst/>
              <a:ahLst/>
              <a:cxnLst/>
              <a:rect r="r" b="b" t="t" l="l"/>
              <a:pathLst>
                <a:path h="3318510" w="6107938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6050915" y="0"/>
                  </a:lnTo>
                  <a:cubicBezTo>
                    <a:pt x="6082411" y="0"/>
                    <a:pt x="6107938" y="25527"/>
                    <a:pt x="6107938" y="57023"/>
                  </a:cubicBezTo>
                  <a:lnTo>
                    <a:pt x="6107938" y="3261487"/>
                  </a:lnTo>
                  <a:cubicBezTo>
                    <a:pt x="6107938" y="3292983"/>
                    <a:pt x="6082411" y="3318510"/>
                    <a:pt x="6050915" y="3318510"/>
                  </a:cubicBezTo>
                  <a:lnTo>
                    <a:pt x="57023" y="3318510"/>
                  </a:lnTo>
                  <a:cubicBezTo>
                    <a:pt x="25527" y="3318510"/>
                    <a:pt x="0" y="3292983"/>
                    <a:pt x="0" y="3261487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3341" y="4880667"/>
            <a:ext cx="3412179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🎣</a:t>
            </a: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Social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341" y="5396208"/>
            <a:ext cx="4010616" cy="141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Attackers exploit trust, urgency, and fear to trick users into clicking malicious links.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50884" y="4605042"/>
            <a:ext cx="4580934" cy="2488854"/>
            <a:chOff x="0" y="0"/>
            <a:chExt cx="6107913" cy="33184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07938" cy="3318510"/>
            </a:xfrm>
            <a:custGeom>
              <a:avLst/>
              <a:gdLst/>
              <a:ahLst/>
              <a:cxnLst/>
              <a:rect r="r" b="b" t="t" l="l"/>
              <a:pathLst>
                <a:path h="3318510" w="6107938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6050915" y="0"/>
                  </a:lnTo>
                  <a:cubicBezTo>
                    <a:pt x="6082411" y="0"/>
                    <a:pt x="6107938" y="25527"/>
                    <a:pt x="6107938" y="57023"/>
                  </a:cubicBezTo>
                  <a:lnTo>
                    <a:pt x="6107938" y="3261487"/>
                  </a:lnTo>
                  <a:cubicBezTo>
                    <a:pt x="6107938" y="3292983"/>
                    <a:pt x="6082411" y="3318510"/>
                    <a:pt x="6050915" y="3318510"/>
                  </a:cubicBezTo>
                  <a:lnTo>
                    <a:pt x="57023" y="3318510"/>
                  </a:lnTo>
                  <a:cubicBezTo>
                    <a:pt x="25527" y="3318510"/>
                    <a:pt x="0" y="3292983"/>
                    <a:pt x="0" y="3261487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36034" y="4880667"/>
            <a:ext cx="3596278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🤖</a:t>
            </a: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AI-Generated Lures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36034" y="5396208"/>
            <a:ext cx="4010616" cy="141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LLMs craft grammatically perfect, context-aware phishing emails that evade keyword filters.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8191" y="7365654"/>
            <a:ext cx="9433617" cy="2043408"/>
            <a:chOff x="0" y="0"/>
            <a:chExt cx="12578156" cy="27245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78080" cy="2724531"/>
            </a:xfrm>
            <a:custGeom>
              <a:avLst/>
              <a:gdLst/>
              <a:ahLst/>
              <a:cxnLst/>
              <a:rect r="r" b="b" t="t" l="l"/>
              <a:pathLst>
                <a:path h="2724531" w="12578080">
                  <a:moveTo>
                    <a:pt x="0" y="57023"/>
                  </a:moveTo>
                  <a:cubicBezTo>
                    <a:pt x="0" y="25527"/>
                    <a:pt x="25527" y="0"/>
                    <a:pt x="57023" y="0"/>
                  </a:cubicBezTo>
                  <a:lnTo>
                    <a:pt x="12521057" y="0"/>
                  </a:lnTo>
                  <a:cubicBezTo>
                    <a:pt x="12552552" y="0"/>
                    <a:pt x="12578080" y="25527"/>
                    <a:pt x="12578080" y="57023"/>
                  </a:cubicBezTo>
                  <a:lnTo>
                    <a:pt x="12578080" y="2667508"/>
                  </a:lnTo>
                  <a:cubicBezTo>
                    <a:pt x="12578080" y="2699004"/>
                    <a:pt x="12552552" y="2724531"/>
                    <a:pt x="12521057" y="2724531"/>
                  </a:cubicBezTo>
                  <a:lnTo>
                    <a:pt x="57023" y="2724531"/>
                  </a:lnTo>
                  <a:cubicBezTo>
                    <a:pt x="25527" y="2724531"/>
                    <a:pt x="0" y="2699004"/>
                    <a:pt x="0" y="2667508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3341" y="7641279"/>
            <a:ext cx="3355181" cy="4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⚡</a:t>
            </a: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Scale &amp; Speed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3341" y="8156819"/>
            <a:ext cx="8863308" cy="9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Millions of phishing emails are sent daily. Manual review is impossible — automation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20066" y="-7714411"/>
            <a:ext cx="33108045" cy="18623275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98727" y="441569"/>
            <a:ext cx="7445273" cy="5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Dataset: SpamAssassin Corpus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98727" y="1426883"/>
            <a:ext cx="6983583" cy="6890681"/>
            <a:chOff x="0" y="0"/>
            <a:chExt cx="9064231" cy="894365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064244" cy="8943662"/>
            </a:xfrm>
            <a:custGeom>
              <a:avLst/>
              <a:gdLst/>
              <a:ahLst/>
              <a:cxnLst/>
              <a:rect r="r" b="b" t="t" l="l"/>
              <a:pathLst>
                <a:path h="8943662" w="9064244">
                  <a:moveTo>
                    <a:pt x="0" y="0"/>
                  </a:moveTo>
                  <a:lnTo>
                    <a:pt x="9064244" y="0"/>
                  </a:lnTo>
                  <a:lnTo>
                    <a:pt x="9064244" y="8943662"/>
                  </a:lnTo>
                  <a:lnTo>
                    <a:pt x="0" y="8943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74" r="0" b="-67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589001" y="8317563"/>
            <a:ext cx="7826131" cy="6679549"/>
            <a:chOff x="0" y="0"/>
            <a:chExt cx="10620157" cy="906423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620169" cy="9064244"/>
            </a:xfrm>
            <a:custGeom>
              <a:avLst/>
              <a:gdLst/>
              <a:ahLst/>
              <a:cxnLst/>
              <a:rect r="r" b="b" t="t" l="l"/>
              <a:pathLst>
                <a:path h="9064244" w="10620169">
                  <a:moveTo>
                    <a:pt x="0" y="0"/>
                  </a:moveTo>
                  <a:lnTo>
                    <a:pt x="10620169" y="0"/>
                  </a:lnTo>
                  <a:lnTo>
                    <a:pt x="10620169" y="9064244"/>
                  </a:lnTo>
                  <a:lnTo>
                    <a:pt x="0" y="906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82" r="0" b="-858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144000" y="2538663"/>
            <a:ext cx="2765346" cy="53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48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What's Inside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4006" y="3439829"/>
            <a:ext cx="6674796" cy="122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46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</a:t>
            </a:r>
            <a:r>
              <a:rPr lang="en-US" sz="2460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completeSpamAssassin.csv</a:t>
            </a:r>
            <a:r>
              <a:rPr lang="en-US" sz="246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dataset provides a labeled corpus of real-world emails for supervised classification.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94006" y="5063733"/>
            <a:ext cx="7159122" cy="1538267"/>
            <a:chOff x="0" y="0"/>
            <a:chExt cx="7299922" cy="1568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99833" cy="1568533"/>
            </a:xfrm>
            <a:custGeom>
              <a:avLst/>
              <a:gdLst/>
              <a:ahLst/>
              <a:cxnLst/>
              <a:rect r="r" b="b" t="t" l="l"/>
              <a:pathLst>
                <a:path h="1568533" w="7299833">
                  <a:moveTo>
                    <a:pt x="0" y="50635"/>
                  </a:moveTo>
                  <a:cubicBezTo>
                    <a:pt x="0" y="22614"/>
                    <a:pt x="17526" y="0"/>
                    <a:pt x="39243" y="0"/>
                  </a:cubicBezTo>
                  <a:lnTo>
                    <a:pt x="7260590" y="0"/>
                  </a:lnTo>
                  <a:cubicBezTo>
                    <a:pt x="7282307" y="0"/>
                    <a:pt x="7299833" y="22614"/>
                    <a:pt x="7299833" y="50635"/>
                  </a:cubicBezTo>
                  <a:lnTo>
                    <a:pt x="7299833" y="1517902"/>
                  </a:lnTo>
                  <a:cubicBezTo>
                    <a:pt x="7299833" y="1545923"/>
                    <a:pt x="7282307" y="1568533"/>
                    <a:pt x="7260590" y="1568533"/>
                  </a:cubicBezTo>
                  <a:lnTo>
                    <a:pt x="39243" y="1568533"/>
                  </a:lnTo>
                  <a:cubicBezTo>
                    <a:pt x="17526" y="1568533"/>
                    <a:pt x="0" y="1545759"/>
                    <a:pt x="0" y="1517902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94006" y="5259591"/>
            <a:ext cx="361874" cy="289446"/>
            <a:chOff x="0" y="0"/>
            <a:chExt cx="327228" cy="26173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27279" cy="261747"/>
            </a:xfrm>
            <a:custGeom>
              <a:avLst/>
              <a:gdLst/>
              <a:ahLst/>
              <a:cxnLst/>
              <a:rect r="r" b="b" t="t" l="l"/>
              <a:pathLst>
                <a:path h="261747" w="327279">
                  <a:moveTo>
                    <a:pt x="0" y="0"/>
                  </a:moveTo>
                  <a:lnTo>
                    <a:pt x="327279" y="0"/>
                  </a:lnTo>
                  <a:lnTo>
                    <a:pt x="327279" y="261747"/>
                  </a:lnTo>
                  <a:lnTo>
                    <a:pt x="0" y="261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0" r="15" b="-48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55880" y="5520461"/>
            <a:ext cx="6536530" cy="86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4"/>
              </a:lnSpc>
            </a:pPr>
            <a:r>
              <a:rPr lang="en-US" sz="265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 is extracted from the </a:t>
            </a:r>
            <a:r>
              <a:rPr lang="en-US" sz="2655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Body</a:t>
            </a:r>
            <a:r>
              <a:rPr lang="en-US" sz="265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column and vectorized using TF-IDF for model input.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98727" y="8593188"/>
            <a:ext cx="7495280" cy="1104309"/>
            <a:chOff x="0" y="0"/>
            <a:chExt cx="9993706" cy="14724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93691" cy="1472311"/>
            </a:xfrm>
            <a:custGeom>
              <a:avLst/>
              <a:gdLst/>
              <a:ahLst/>
              <a:cxnLst/>
              <a:rect r="r" b="b" t="t" l="l"/>
              <a:pathLst>
                <a:path h="1472311" w="9993691">
                  <a:moveTo>
                    <a:pt x="0" y="40259"/>
                  </a:moveTo>
                  <a:cubicBezTo>
                    <a:pt x="0" y="18034"/>
                    <a:pt x="21319" y="0"/>
                    <a:pt x="47593" y="0"/>
                  </a:cubicBezTo>
                  <a:lnTo>
                    <a:pt x="9946098" y="0"/>
                  </a:lnTo>
                  <a:cubicBezTo>
                    <a:pt x="9972371" y="0"/>
                    <a:pt x="9993691" y="18034"/>
                    <a:pt x="9993691" y="40259"/>
                  </a:cubicBezTo>
                  <a:lnTo>
                    <a:pt x="9993691" y="1432052"/>
                  </a:lnTo>
                  <a:cubicBezTo>
                    <a:pt x="9993691" y="1454277"/>
                    <a:pt x="9972371" y="1472311"/>
                    <a:pt x="9946098" y="1472311"/>
                  </a:cubicBezTo>
                  <a:lnTo>
                    <a:pt x="47593" y="1472311"/>
                  </a:lnTo>
                  <a:cubicBezTo>
                    <a:pt x="21319" y="1472311"/>
                    <a:pt x="0" y="1454277"/>
                    <a:pt x="0" y="1432052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480457" y="8768320"/>
            <a:ext cx="2822434" cy="35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1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Label 0 — Ham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0457" y="9147022"/>
            <a:ext cx="6374221" cy="348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131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Legitimate, safe emails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94006" y="8593188"/>
            <a:ext cx="7159122" cy="1104309"/>
            <a:chOff x="0" y="0"/>
            <a:chExt cx="9545497" cy="14724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45410" cy="1472311"/>
            </a:xfrm>
            <a:custGeom>
              <a:avLst/>
              <a:gdLst/>
              <a:ahLst/>
              <a:cxnLst/>
              <a:rect r="r" b="b" t="t" l="l"/>
              <a:pathLst>
                <a:path h="1472311" w="9545410">
                  <a:moveTo>
                    <a:pt x="0" y="40259"/>
                  </a:moveTo>
                  <a:cubicBezTo>
                    <a:pt x="0" y="18034"/>
                    <a:pt x="20363" y="0"/>
                    <a:pt x="45458" y="0"/>
                  </a:cubicBezTo>
                  <a:lnTo>
                    <a:pt x="9499953" y="0"/>
                  </a:lnTo>
                  <a:cubicBezTo>
                    <a:pt x="9525047" y="0"/>
                    <a:pt x="9545410" y="18034"/>
                    <a:pt x="9545410" y="40259"/>
                  </a:cubicBezTo>
                  <a:lnTo>
                    <a:pt x="9545410" y="1432052"/>
                  </a:lnTo>
                  <a:cubicBezTo>
                    <a:pt x="9545410" y="1454277"/>
                    <a:pt x="9525047" y="1472311"/>
                    <a:pt x="9499953" y="1472311"/>
                  </a:cubicBezTo>
                  <a:lnTo>
                    <a:pt x="45458" y="1472311"/>
                  </a:lnTo>
                  <a:cubicBezTo>
                    <a:pt x="20363" y="1472311"/>
                    <a:pt x="0" y="1454277"/>
                    <a:pt x="0" y="1432052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433169" y="8768320"/>
            <a:ext cx="2876193" cy="32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1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Label 1 — Spam/Phish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33169" y="9179271"/>
            <a:ext cx="5862037" cy="32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09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Malicious or unsolicited content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05127" y="687143"/>
            <a:ext cx="6304807" cy="6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127" y="1692621"/>
            <a:ext cx="15792002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PhishGuard AI is a full-stack Flask application with a clean separation of concerns — from user input to ML inference to visual feedback.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05127" y="2251319"/>
            <a:ext cx="14877602" cy="6808737"/>
            <a:chOff x="0" y="0"/>
            <a:chExt cx="19836803" cy="90783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836764" cy="9078341"/>
            </a:xfrm>
            <a:custGeom>
              <a:avLst/>
              <a:gdLst/>
              <a:ahLst/>
              <a:cxnLst/>
              <a:rect r="r" b="b" t="t" l="l"/>
              <a:pathLst>
                <a:path h="9078341" w="19836764">
                  <a:moveTo>
                    <a:pt x="0" y="0"/>
                  </a:moveTo>
                  <a:lnTo>
                    <a:pt x="19836764" y="0"/>
                  </a:lnTo>
                  <a:lnTo>
                    <a:pt x="19836764" y="9078341"/>
                  </a:lnTo>
                  <a:lnTo>
                    <a:pt x="0" y="9078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" r="0" b="-1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03070" y="3165024"/>
            <a:ext cx="40117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Processing &amp; ML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3070" y="3678507"/>
            <a:ext cx="3627539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Cleaning, TF‑IDF, Scikit‑learn classifier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0163" y="5402990"/>
            <a:ext cx="30973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5"/>
              </a:lnSpc>
            </a:pPr>
            <a:r>
              <a:rPr lang="en-US" sz="2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5916463"/>
            <a:ext cx="3334998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8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Flask API routing and file parsing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3070" y="6703886"/>
            <a:ext cx="4011701" cy="38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Core UI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03070" y="7217369"/>
            <a:ext cx="4541939" cy="28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20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Paste email or upload .eml file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5127" y="9219162"/>
            <a:ext cx="15792002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pipeline processes each email in under a second, returning a full threat assessment with interpretable indicators.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1818" y="831504"/>
            <a:ext cx="13635485" cy="85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ML Pipeline: From Raw Text to Prediction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1818" y="2210991"/>
            <a:ext cx="8162182" cy="1122016"/>
            <a:chOff x="0" y="0"/>
            <a:chExt cx="10882909" cy="14960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82884" cy="1496060"/>
            </a:xfrm>
            <a:custGeom>
              <a:avLst/>
              <a:gdLst/>
              <a:ahLst/>
              <a:cxnLst/>
              <a:rect r="r" b="b" t="t" l="l"/>
              <a:pathLst>
                <a:path h="1496060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7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2215" y="3576933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Text Cleaning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2215" y="4090092"/>
            <a:ext cx="7601398" cy="5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Strip HTML, remove stopwords, lowercase, tokenize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2210991"/>
            <a:ext cx="8162182" cy="1122016"/>
            <a:chOff x="0" y="0"/>
            <a:chExt cx="10882909" cy="149602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82884" cy="1496060"/>
            </a:xfrm>
            <a:custGeom>
              <a:avLst/>
              <a:gdLst/>
              <a:ahLst/>
              <a:cxnLst/>
              <a:rect r="r" b="b" t="t" l="l"/>
              <a:pathLst>
                <a:path h="1496060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1" r="0" b="-7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4387" y="3576933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TF-IDF Vectorization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4387" y="4090092"/>
            <a:ext cx="7601398" cy="5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Convert text to weighted numerical features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1818" y="4881410"/>
            <a:ext cx="8162182" cy="1122016"/>
            <a:chOff x="0" y="0"/>
            <a:chExt cx="10882909" cy="149602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82884" cy="1496060"/>
            </a:xfrm>
            <a:custGeom>
              <a:avLst/>
              <a:gdLst/>
              <a:ahLst/>
              <a:cxnLst/>
              <a:rect r="r" b="b" t="t" l="l"/>
              <a:pathLst>
                <a:path h="1496060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" r="0" b="-7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62215" y="6247362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Model Training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2215" y="6760521"/>
            <a:ext cx="7601398" cy="5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Scikit-learn classifier trained on SpamAssassin corpus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0" y="4881410"/>
            <a:ext cx="8162182" cy="1122016"/>
            <a:chOff x="0" y="0"/>
            <a:chExt cx="10882909" cy="149602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82884" cy="1496060"/>
            </a:xfrm>
            <a:custGeom>
              <a:avLst/>
              <a:gdLst/>
              <a:ahLst/>
              <a:cxnLst/>
              <a:rect r="r" b="b" t="t" l="l"/>
              <a:pathLst>
                <a:path h="1496060" w="10882884">
                  <a:moveTo>
                    <a:pt x="0" y="0"/>
                  </a:moveTo>
                  <a:lnTo>
                    <a:pt x="10882884" y="0"/>
                  </a:lnTo>
                  <a:lnTo>
                    <a:pt x="10882884" y="1496060"/>
                  </a:lnTo>
                  <a:lnTo>
                    <a:pt x="0" y="1496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" r="0" b="-7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24387" y="6247362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Prediction 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4387" y="6760521"/>
            <a:ext cx="7601398" cy="51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Phish/Ham label + confidence probability score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1818" y="7847562"/>
            <a:ext cx="16324364" cy="1579359"/>
            <a:chOff x="0" y="0"/>
            <a:chExt cx="21765819" cy="21058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5896" cy="2105914"/>
            </a:xfrm>
            <a:custGeom>
              <a:avLst/>
              <a:gdLst/>
              <a:ahLst/>
              <a:cxnLst/>
              <a:rect r="r" b="b" t="t" l="l"/>
              <a:pathLst>
                <a:path h="2105914" w="21765896">
                  <a:moveTo>
                    <a:pt x="0" y="56134"/>
                  </a:moveTo>
                  <a:cubicBezTo>
                    <a:pt x="0" y="25146"/>
                    <a:pt x="25146" y="0"/>
                    <a:pt x="56134" y="0"/>
                  </a:cubicBezTo>
                  <a:lnTo>
                    <a:pt x="21709762" y="0"/>
                  </a:lnTo>
                  <a:cubicBezTo>
                    <a:pt x="21740750" y="0"/>
                    <a:pt x="21765896" y="25146"/>
                    <a:pt x="21765896" y="56134"/>
                  </a:cubicBezTo>
                  <a:lnTo>
                    <a:pt x="21765896" y="2049780"/>
                  </a:lnTo>
                  <a:cubicBezTo>
                    <a:pt x="21765896" y="2080768"/>
                    <a:pt x="21740750" y="2105914"/>
                    <a:pt x="21709762" y="2105914"/>
                  </a:cubicBezTo>
                  <a:lnTo>
                    <a:pt x="56134" y="2105914"/>
                  </a:lnTo>
                  <a:cubicBezTo>
                    <a:pt x="25146" y="2105914"/>
                    <a:pt x="0" y="2080768"/>
                    <a:pt x="0" y="2049780"/>
                  </a:cubicBezTo>
                  <a:close/>
                </a:path>
              </a:pathLst>
            </a:custGeom>
            <a:solidFill>
              <a:srgbClr val="D4E3C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2215" y="8247907"/>
            <a:ext cx="350644" cy="280387"/>
            <a:chOff x="0" y="0"/>
            <a:chExt cx="467525" cy="37385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67487" cy="373888"/>
            </a:xfrm>
            <a:custGeom>
              <a:avLst/>
              <a:gdLst/>
              <a:ahLst/>
              <a:cxnLst/>
              <a:rect r="r" b="b" t="t" l="l"/>
              <a:pathLst>
                <a:path h="373888" w="467487">
                  <a:moveTo>
                    <a:pt x="0" y="0"/>
                  </a:moveTo>
                  <a:lnTo>
                    <a:pt x="467487" y="0"/>
                  </a:lnTo>
                  <a:lnTo>
                    <a:pt x="467487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13" t="0" r="-1018" b="1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93246" y="8104432"/>
            <a:ext cx="15132548" cy="94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Why TF-IDF?</a:t>
            </a:r>
            <a:r>
              <a:rPr lang="en-US" sz="2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It weights terms by how uniquely they appear in phishing vs. legitimate emails — surfacing suspicious language patterns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5172075"/>
            <a:chOff x="0" y="0"/>
            <a:chExt cx="24384000" cy="68961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6896100"/>
            </a:xfrm>
            <a:custGeom>
              <a:avLst/>
              <a:gdLst/>
              <a:ahLst/>
              <a:cxnLst/>
              <a:rect r="r" b="b" t="t" l="l"/>
              <a:pathLst>
                <a:path h="6896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896100"/>
                  </a:lnTo>
                  <a:lnTo>
                    <a:pt x="0" y="68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21944" y="137817"/>
            <a:ext cx="10043960" cy="4896450"/>
            <a:chOff x="0" y="0"/>
            <a:chExt cx="13391947" cy="65286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391896" cy="6528562"/>
            </a:xfrm>
            <a:custGeom>
              <a:avLst/>
              <a:gdLst/>
              <a:ahLst/>
              <a:cxnLst/>
              <a:rect r="r" b="b" t="t" l="l"/>
              <a:pathLst>
                <a:path h="6528562" w="13391896">
                  <a:moveTo>
                    <a:pt x="0" y="0"/>
                  </a:moveTo>
                  <a:lnTo>
                    <a:pt x="13391896" y="0"/>
                  </a:lnTo>
                  <a:lnTo>
                    <a:pt x="13391896" y="6528562"/>
                  </a:lnTo>
                  <a:lnTo>
                    <a:pt x="0" y="6528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5444" y="6132757"/>
            <a:ext cx="7404945" cy="83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Web App Demo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65444" y="7354043"/>
            <a:ext cx="551555" cy="551555"/>
          </a:xfrm>
          <a:custGeom>
            <a:avLst/>
            <a:gdLst/>
            <a:ahLst/>
            <a:cxnLst/>
            <a:rect r="r" b="b" t="t" l="l"/>
            <a:pathLst>
              <a:path h="551555" w="551555">
                <a:moveTo>
                  <a:pt x="0" y="0"/>
                </a:moveTo>
                <a:lnTo>
                  <a:pt x="551555" y="0"/>
                </a:lnTo>
                <a:lnTo>
                  <a:pt x="551555" y="551555"/>
                </a:lnTo>
                <a:lnTo>
                  <a:pt x="0" y="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965" t="0" r="-1896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34753" y="7429795"/>
            <a:ext cx="3245196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Email 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4753" y="7940431"/>
            <a:ext cx="4371232" cy="135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Paste raw email text or upload a .eml file directly in the browser — no installation required.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523730" y="7354043"/>
            <a:ext cx="551555" cy="551555"/>
          </a:xfrm>
          <a:custGeom>
            <a:avLst/>
            <a:gdLst/>
            <a:ahLst/>
            <a:cxnLst/>
            <a:rect r="r" b="b" t="t" l="l"/>
            <a:pathLst>
              <a:path h="551555" w="551555">
                <a:moveTo>
                  <a:pt x="0" y="0"/>
                </a:moveTo>
                <a:lnTo>
                  <a:pt x="551554" y="0"/>
                </a:lnTo>
                <a:lnTo>
                  <a:pt x="551554" y="551555"/>
                </a:lnTo>
                <a:lnTo>
                  <a:pt x="0" y="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207" r="0" b="-1120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393038" y="7429795"/>
            <a:ext cx="3245196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Instant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3038" y="7940431"/>
            <a:ext cx="4371232" cy="133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Results appear in seconds: </a:t>
            </a:r>
            <a:r>
              <a:rPr lang="en-US" sz="2100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Phish</a:t>
            </a: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 </a:t>
            </a:r>
            <a:r>
              <a:rPr lang="en-US" sz="2100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Ham</a:t>
            </a: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classification with a probability confidence score (0–100%).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082015" y="7354043"/>
            <a:ext cx="551555" cy="551555"/>
          </a:xfrm>
          <a:custGeom>
            <a:avLst/>
            <a:gdLst/>
            <a:ahLst/>
            <a:cxnLst/>
            <a:rect r="r" b="b" t="t" l="l"/>
            <a:pathLst>
              <a:path h="551555" w="551555">
                <a:moveTo>
                  <a:pt x="0" y="0"/>
                </a:moveTo>
                <a:lnTo>
                  <a:pt x="551554" y="0"/>
                </a:lnTo>
                <a:lnTo>
                  <a:pt x="551554" y="551555"/>
                </a:lnTo>
                <a:lnTo>
                  <a:pt x="0" y="551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759" t="0" r="-7759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951323" y="7429795"/>
            <a:ext cx="3245196" cy="42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Suspicious Indicators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1323" y="7940431"/>
            <a:ext cx="4371232" cy="133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app highlights flagged keywords, urgency language, and structural red flags that drove the decision.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1518" y="701278"/>
            <a:ext cx="7178431" cy="71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Results &amp; Interpretation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1518" y="3306956"/>
            <a:ext cx="4105275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What the Model Returns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87231" y="3857034"/>
            <a:ext cx="3659391" cy="1797844"/>
            <a:chOff x="0" y="0"/>
            <a:chExt cx="4879188" cy="2397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9213" cy="2397125"/>
            </a:xfrm>
            <a:custGeom>
              <a:avLst/>
              <a:gdLst/>
              <a:ahLst/>
              <a:cxnLst/>
              <a:rect r="r" b="b" t="t" l="l"/>
              <a:pathLst>
                <a:path h="2397125" w="4879213">
                  <a:moveTo>
                    <a:pt x="0" y="185801"/>
                  </a:moveTo>
                  <a:cubicBezTo>
                    <a:pt x="0" y="83185"/>
                    <a:pt x="83185" y="0"/>
                    <a:pt x="185801" y="0"/>
                  </a:cubicBezTo>
                  <a:lnTo>
                    <a:pt x="4693412" y="0"/>
                  </a:lnTo>
                  <a:cubicBezTo>
                    <a:pt x="4796028" y="0"/>
                    <a:pt x="4879213" y="83185"/>
                    <a:pt x="4879213" y="185801"/>
                  </a:cubicBezTo>
                  <a:lnTo>
                    <a:pt x="4879213" y="2211324"/>
                  </a:lnTo>
                  <a:cubicBezTo>
                    <a:pt x="4879213" y="2313940"/>
                    <a:pt x="4796028" y="2397125"/>
                    <a:pt x="4693412" y="2397125"/>
                  </a:cubicBezTo>
                  <a:lnTo>
                    <a:pt x="185801" y="2397125"/>
                  </a:lnTo>
                  <a:cubicBezTo>
                    <a:pt x="83185" y="2397125"/>
                    <a:pt x="0" y="2313940"/>
                    <a:pt x="0" y="2211324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943" y="3871322"/>
            <a:ext cx="114300" cy="1769269"/>
            <a:chOff x="0" y="0"/>
            <a:chExt cx="152400" cy="23590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359025"/>
            </a:xfrm>
            <a:custGeom>
              <a:avLst/>
              <a:gdLst/>
              <a:ahLst/>
              <a:cxnLst/>
              <a:rect r="r" b="b" t="t" l="l"/>
              <a:pathLst>
                <a:path h="2359025" w="152400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311273"/>
                  </a:lnTo>
                  <a:cubicBezTo>
                    <a:pt x="152400" y="2337562"/>
                    <a:pt x="131064" y="2359025"/>
                    <a:pt x="104648" y="2359025"/>
                  </a:cubicBezTo>
                  <a:lnTo>
                    <a:pt x="47752" y="2359025"/>
                  </a:lnTo>
                  <a:cubicBezTo>
                    <a:pt x="21463" y="2359025"/>
                    <a:pt x="0" y="2337689"/>
                    <a:pt x="0" y="231127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54238" y="4138317"/>
            <a:ext cx="2805112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🏷️</a:t>
            </a: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4238" y="4650286"/>
            <a:ext cx="3011091" cy="72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38512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Phish</a:t>
            </a: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or </a:t>
            </a:r>
            <a:r>
              <a:rPr lang="en-US" sz="1800" b="true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Ham</a:t>
            </a: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binary label based on learned patterns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07946" y="3857034"/>
            <a:ext cx="3659391" cy="1797844"/>
            <a:chOff x="0" y="0"/>
            <a:chExt cx="4879188" cy="2397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9213" cy="2397125"/>
            </a:xfrm>
            <a:custGeom>
              <a:avLst/>
              <a:gdLst/>
              <a:ahLst/>
              <a:cxnLst/>
              <a:rect r="r" b="b" t="t" l="l"/>
              <a:pathLst>
                <a:path h="2397125" w="4879213">
                  <a:moveTo>
                    <a:pt x="0" y="185801"/>
                  </a:moveTo>
                  <a:cubicBezTo>
                    <a:pt x="0" y="83185"/>
                    <a:pt x="83185" y="0"/>
                    <a:pt x="185801" y="0"/>
                  </a:cubicBezTo>
                  <a:lnTo>
                    <a:pt x="4693412" y="0"/>
                  </a:lnTo>
                  <a:cubicBezTo>
                    <a:pt x="4796028" y="0"/>
                    <a:pt x="4879213" y="83185"/>
                    <a:pt x="4879213" y="185801"/>
                  </a:cubicBezTo>
                  <a:lnTo>
                    <a:pt x="4879213" y="2211324"/>
                  </a:lnTo>
                  <a:cubicBezTo>
                    <a:pt x="4879213" y="2313940"/>
                    <a:pt x="4796028" y="2397125"/>
                    <a:pt x="4693412" y="2397125"/>
                  </a:cubicBezTo>
                  <a:lnTo>
                    <a:pt x="185801" y="2397125"/>
                  </a:lnTo>
                  <a:cubicBezTo>
                    <a:pt x="83185" y="2397125"/>
                    <a:pt x="0" y="2313940"/>
                    <a:pt x="0" y="2211324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93659" y="3871322"/>
            <a:ext cx="114300" cy="1769269"/>
            <a:chOff x="0" y="0"/>
            <a:chExt cx="152400" cy="23590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" cy="2359025"/>
            </a:xfrm>
            <a:custGeom>
              <a:avLst/>
              <a:gdLst/>
              <a:ahLst/>
              <a:cxnLst/>
              <a:rect r="r" b="b" t="t" l="l"/>
              <a:pathLst>
                <a:path h="2359025" w="152400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311273"/>
                  </a:lnTo>
                  <a:cubicBezTo>
                    <a:pt x="152400" y="2337562"/>
                    <a:pt x="131064" y="2359025"/>
                    <a:pt x="104648" y="2359025"/>
                  </a:cubicBezTo>
                  <a:lnTo>
                    <a:pt x="47752" y="2359025"/>
                  </a:lnTo>
                  <a:cubicBezTo>
                    <a:pt x="21463" y="2359025"/>
                    <a:pt x="0" y="2337689"/>
                    <a:pt x="0" y="231127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574954" y="4138317"/>
            <a:ext cx="2805112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📊</a:t>
            </a: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Confidence 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74954" y="4650286"/>
            <a:ext cx="3011091" cy="72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Probability from 0–100% indicating model certainty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87231" y="5816203"/>
            <a:ext cx="3659391" cy="2140448"/>
            <a:chOff x="0" y="0"/>
            <a:chExt cx="4879188" cy="28539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9340" cy="2853944"/>
            </a:xfrm>
            <a:custGeom>
              <a:avLst/>
              <a:gdLst/>
              <a:ahLst/>
              <a:cxnLst/>
              <a:rect r="r" b="b" t="t" l="l"/>
              <a:pathLst>
                <a:path h="2853944" w="4879340">
                  <a:moveTo>
                    <a:pt x="0" y="185420"/>
                  </a:moveTo>
                  <a:cubicBezTo>
                    <a:pt x="0" y="82931"/>
                    <a:pt x="82931" y="0"/>
                    <a:pt x="185420" y="0"/>
                  </a:cubicBezTo>
                  <a:lnTo>
                    <a:pt x="4693920" y="0"/>
                  </a:lnTo>
                  <a:cubicBezTo>
                    <a:pt x="4796282" y="0"/>
                    <a:pt x="4879340" y="82931"/>
                    <a:pt x="4879340" y="185420"/>
                  </a:cubicBezTo>
                  <a:lnTo>
                    <a:pt x="4879340" y="2668524"/>
                  </a:lnTo>
                  <a:cubicBezTo>
                    <a:pt x="4879340" y="2770886"/>
                    <a:pt x="4796409" y="2853944"/>
                    <a:pt x="4693920" y="2853944"/>
                  </a:cubicBezTo>
                  <a:lnTo>
                    <a:pt x="185420" y="2853944"/>
                  </a:lnTo>
                  <a:cubicBezTo>
                    <a:pt x="83058" y="2853944"/>
                    <a:pt x="0" y="2771013"/>
                    <a:pt x="0" y="2668524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2943" y="5830491"/>
            <a:ext cx="114300" cy="2111873"/>
            <a:chOff x="0" y="0"/>
            <a:chExt cx="152400" cy="28158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2815844"/>
            </a:xfrm>
            <a:custGeom>
              <a:avLst/>
              <a:gdLst/>
              <a:ahLst/>
              <a:cxnLst/>
              <a:rect r="r" b="b" t="t" l="l"/>
              <a:pathLst>
                <a:path h="2815844" w="152400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768092"/>
                  </a:lnTo>
                  <a:cubicBezTo>
                    <a:pt x="152400" y="2794381"/>
                    <a:pt x="131064" y="2815844"/>
                    <a:pt x="104648" y="2815844"/>
                  </a:cubicBezTo>
                  <a:lnTo>
                    <a:pt x="47752" y="2815844"/>
                  </a:lnTo>
                  <a:cubicBezTo>
                    <a:pt x="21463" y="2815844"/>
                    <a:pt x="0" y="2794508"/>
                    <a:pt x="0" y="276809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54238" y="6097486"/>
            <a:ext cx="2805112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⚠️</a:t>
            </a: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Risk Level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54238" y="6609455"/>
            <a:ext cx="3011091" cy="106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Low / Medium / High — mapped from confidence threshold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207946" y="5816203"/>
            <a:ext cx="3659391" cy="2140448"/>
            <a:chOff x="0" y="0"/>
            <a:chExt cx="4879188" cy="28539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9340" cy="2853944"/>
            </a:xfrm>
            <a:custGeom>
              <a:avLst/>
              <a:gdLst/>
              <a:ahLst/>
              <a:cxnLst/>
              <a:rect r="r" b="b" t="t" l="l"/>
              <a:pathLst>
                <a:path h="2853944" w="4879340">
                  <a:moveTo>
                    <a:pt x="0" y="185420"/>
                  </a:moveTo>
                  <a:cubicBezTo>
                    <a:pt x="0" y="82931"/>
                    <a:pt x="82931" y="0"/>
                    <a:pt x="185420" y="0"/>
                  </a:cubicBezTo>
                  <a:lnTo>
                    <a:pt x="4693920" y="0"/>
                  </a:lnTo>
                  <a:cubicBezTo>
                    <a:pt x="4796282" y="0"/>
                    <a:pt x="4879340" y="82931"/>
                    <a:pt x="4879340" y="185420"/>
                  </a:cubicBezTo>
                  <a:lnTo>
                    <a:pt x="4879340" y="2668524"/>
                  </a:lnTo>
                  <a:cubicBezTo>
                    <a:pt x="4879340" y="2770886"/>
                    <a:pt x="4796409" y="2853944"/>
                    <a:pt x="4693920" y="2853944"/>
                  </a:cubicBezTo>
                  <a:lnTo>
                    <a:pt x="185420" y="2853944"/>
                  </a:lnTo>
                  <a:cubicBezTo>
                    <a:pt x="83058" y="2853944"/>
                    <a:pt x="0" y="2771013"/>
                    <a:pt x="0" y="2668524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93659" y="5830491"/>
            <a:ext cx="114300" cy="2111873"/>
            <a:chOff x="0" y="0"/>
            <a:chExt cx="152400" cy="2815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2815844"/>
            </a:xfrm>
            <a:custGeom>
              <a:avLst/>
              <a:gdLst/>
              <a:ahLst/>
              <a:cxnLst/>
              <a:rect r="r" b="b" t="t" l="l"/>
              <a:pathLst>
                <a:path h="2815844" w="152400">
                  <a:moveTo>
                    <a:pt x="0" y="47752"/>
                  </a:moveTo>
                  <a:cubicBezTo>
                    <a:pt x="0" y="21336"/>
                    <a:pt x="21336" y="0"/>
                    <a:pt x="47752" y="0"/>
                  </a:cubicBezTo>
                  <a:lnTo>
                    <a:pt x="104648" y="0"/>
                  </a:lnTo>
                  <a:cubicBezTo>
                    <a:pt x="131064" y="0"/>
                    <a:pt x="152400" y="21336"/>
                    <a:pt x="152400" y="47752"/>
                  </a:cubicBezTo>
                  <a:lnTo>
                    <a:pt x="152400" y="2768092"/>
                  </a:lnTo>
                  <a:cubicBezTo>
                    <a:pt x="152400" y="2794381"/>
                    <a:pt x="131064" y="2815844"/>
                    <a:pt x="104648" y="2815844"/>
                  </a:cubicBezTo>
                  <a:lnTo>
                    <a:pt x="47752" y="2815844"/>
                  </a:lnTo>
                  <a:cubicBezTo>
                    <a:pt x="21463" y="2815844"/>
                    <a:pt x="0" y="2794508"/>
                    <a:pt x="0" y="276809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574954" y="6097486"/>
            <a:ext cx="3007366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🔍</a:t>
            </a: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 Suspicious Features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74954" y="6609455"/>
            <a:ext cx="3011091" cy="72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Specific words/phrases that triggered the phishing flag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44190" y="1910801"/>
            <a:ext cx="7451522" cy="7451522"/>
            <a:chOff x="0" y="0"/>
            <a:chExt cx="9935362" cy="9935362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44190" y="1910801"/>
            <a:ext cx="7451522" cy="7451522"/>
            <a:chOff x="0" y="0"/>
            <a:chExt cx="9935362" cy="993536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3318" y="746369"/>
            <a:ext cx="6862915" cy="7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Limitations &amp;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3318" y="1899942"/>
            <a:ext cx="36645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Current Limitations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743" y="2430066"/>
            <a:ext cx="57150" cy="1593504"/>
            <a:chOff x="0" y="0"/>
            <a:chExt cx="76200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2124710"/>
            </a:xfrm>
            <a:custGeom>
              <a:avLst/>
              <a:gdLst/>
              <a:ahLst/>
              <a:cxnLst/>
              <a:rect r="r" b="b" t="t" l="l"/>
              <a:pathLst>
                <a:path h="21247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124710"/>
                  </a:lnTo>
                  <a:lnTo>
                    <a:pt x="0" y="212471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44126" y="2449116"/>
            <a:ext cx="3090272" cy="69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No Real-Time Mailbox Access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4126" y="3290735"/>
            <a:ext cx="3090272" cy="70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Currently manual input only — no IMAP/SMTP integration yet.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33975" y="2430066"/>
            <a:ext cx="57150" cy="1593504"/>
            <a:chOff x="0" y="0"/>
            <a:chExt cx="76200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2124710"/>
            </a:xfrm>
            <a:custGeom>
              <a:avLst/>
              <a:gdLst/>
              <a:ahLst/>
              <a:cxnLst/>
              <a:rect r="r" b="b" t="t" l="l"/>
              <a:pathLst>
                <a:path h="21247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124710"/>
                  </a:lnTo>
                  <a:lnTo>
                    <a:pt x="0" y="212471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53358" y="2449116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Text-Only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53358" y="2946949"/>
            <a:ext cx="3090272" cy="103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Header metadata, DKIM/SPF records, and URL reputation are not yet evaluated.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24743" y="4331646"/>
            <a:ext cx="57150" cy="1249709"/>
            <a:chOff x="0" y="0"/>
            <a:chExt cx="76200" cy="16662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666240"/>
            </a:xfrm>
            <a:custGeom>
              <a:avLst/>
              <a:gdLst/>
              <a:ahLst/>
              <a:cxnLst/>
              <a:rect r="r" b="b" t="t" l="l"/>
              <a:pathLst>
                <a:path h="1666240" w="76200">
                  <a:moveTo>
                    <a:pt x="0" y="0"/>
                  </a:moveTo>
                  <a:lnTo>
                    <a:pt x="76200" y="0"/>
                  </a:lnTo>
                  <a:lnTo>
                    <a:pt x="76200" y="1666240"/>
                  </a:lnTo>
                  <a:lnTo>
                    <a:pt x="0" y="166624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844126" y="4350696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TF-IDF Scope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44126" y="4848520"/>
            <a:ext cx="6699494" cy="70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Bag-of-words model misses semantic context and multi-sentence reasoning.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23464" y="1899942"/>
            <a:ext cx="36645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What's Next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23464" y="2458641"/>
            <a:ext cx="467468" cy="292151"/>
            <a:chOff x="0" y="0"/>
            <a:chExt cx="623291" cy="3895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293" cy="389533"/>
            </a:xfrm>
            <a:custGeom>
              <a:avLst/>
              <a:gdLst/>
              <a:ahLst/>
              <a:cxnLst/>
              <a:rect r="r" b="b" t="t" l="l"/>
              <a:pathLst>
                <a:path h="389533" w="623293">
                  <a:moveTo>
                    <a:pt x="0" y="0"/>
                  </a:moveTo>
                  <a:lnTo>
                    <a:pt x="623293" y="0"/>
                  </a:lnTo>
                  <a:lnTo>
                    <a:pt x="623293" y="389533"/>
                  </a:lnTo>
                  <a:lnTo>
                    <a:pt x="0" y="38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5" t="0" r="-3018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23291" cy="38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3464" y="2827287"/>
            <a:ext cx="7620448" cy="28575"/>
            <a:chOff x="0" y="0"/>
            <a:chExt cx="10160597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635" cy="38100"/>
            </a:xfrm>
            <a:custGeom>
              <a:avLst/>
              <a:gdLst/>
              <a:ahLst/>
              <a:cxnLst/>
              <a:rect r="r" b="b" t="t" l="l"/>
              <a:pathLst>
                <a:path h="38100" w="10160635">
                  <a:moveTo>
                    <a:pt x="0" y="0"/>
                  </a:moveTo>
                  <a:lnTo>
                    <a:pt x="10160635" y="0"/>
                  </a:lnTo>
                  <a:lnTo>
                    <a:pt x="101606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23464" y="2991745"/>
            <a:ext cx="3410550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DKIM / SPF / URL Checks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23464" y="3489569"/>
            <a:ext cx="7620448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Integrate email authentication and link reputation APIs.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23464" y="4218680"/>
            <a:ext cx="467468" cy="292151"/>
            <a:chOff x="0" y="0"/>
            <a:chExt cx="623291" cy="3895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3293" cy="389533"/>
            </a:xfrm>
            <a:custGeom>
              <a:avLst/>
              <a:gdLst/>
              <a:ahLst/>
              <a:cxnLst/>
              <a:rect r="r" b="b" t="t" l="l"/>
              <a:pathLst>
                <a:path h="389533" w="623293">
                  <a:moveTo>
                    <a:pt x="0" y="0"/>
                  </a:moveTo>
                  <a:lnTo>
                    <a:pt x="623293" y="0"/>
                  </a:lnTo>
                  <a:lnTo>
                    <a:pt x="623293" y="389533"/>
                  </a:lnTo>
                  <a:lnTo>
                    <a:pt x="0" y="38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5" t="0" r="-3018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23291" cy="38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23464" y="4587326"/>
            <a:ext cx="7620448" cy="28575"/>
            <a:chOff x="0" y="0"/>
            <a:chExt cx="10160597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60635" cy="38100"/>
            </a:xfrm>
            <a:custGeom>
              <a:avLst/>
              <a:gdLst/>
              <a:ahLst/>
              <a:cxnLst/>
              <a:rect r="r" b="b" t="t" l="l"/>
              <a:pathLst>
                <a:path h="38100" w="10160635">
                  <a:moveTo>
                    <a:pt x="0" y="0"/>
                  </a:moveTo>
                  <a:lnTo>
                    <a:pt x="10160635" y="0"/>
                  </a:lnTo>
                  <a:lnTo>
                    <a:pt x="101606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123464" y="4751784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DistilBERT Upgrade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23464" y="5249618"/>
            <a:ext cx="7620448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Replace TF-IDF with a transformer model for semantic understanding.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23464" y="5978728"/>
            <a:ext cx="467468" cy="292151"/>
            <a:chOff x="0" y="0"/>
            <a:chExt cx="623291" cy="3895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3293" cy="389533"/>
            </a:xfrm>
            <a:custGeom>
              <a:avLst/>
              <a:gdLst/>
              <a:ahLst/>
              <a:cxnLst/>
              <a:rect r="r" b="b" t="t" l="l"/>
              <a:pathLst>
                <a:path h="389533" w="623293">
                  <a:moveTo>
                    <a:pt x="0" y="0"/>
                  </a:moveTo>
                  <a:lnTo>
                    <a:pt x="623293" y="0"/>
                  </a:lnTo>
                  <a:lnTo>
                    <a:pt x="623293" y="389533"/>
                  </a:lnTo>
                  <a:lnTo>
                    <a:pt x="0" y="38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5" t="0" r="-3018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23291" cy="38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23464" y="6347374"/>
            <a:ext cx="7620448" cy="28575"/>
            <a:chOff x="0" y="0"/>
            <a:chExt cx="10160597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635" cy="38100"/>
            </a:xfrm>
            <a:custGeom>
              <a:avLst/>
              <a:gdLst/>
              <a:ahLst/>
              <a:cxnLst/>
              <a:rect r="r" b="b" t="t" l="l"/>
              <a:pathLst>
                <a:path h="38100" w="10160635">
                  <a:moveTo>
                    <a:pt x="0" y="0"/>
                  </a:moveTo>
                  <a:lnTo>
                    <a:pt x="10160635" y="0"/>
                  </a:lnTo>
                  <a:lnTo>
                    <a:pt x="101606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123464" y="6511823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Cloud Deployment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3464" y="7009657"/>
            <a:ext cx="7620448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Deploy via Docker + Flask on AWS/Render with a REST API.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23464" y="7738767"/>
            <a:ext cx="467468" cy="292151"/>
            <a:chOff x="0" y="0"/>
            <a:chExt cx="623291" cy="3895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293" cy="389533"/>
            </a:xfrm>
            <a:custGeom>
              <a:avLst/>
              <a:gdLst/>
              <a:ahLst/>
              <a:cxnLst/>
              <a:rect r="r" b="b" t="t" l="l"/>
              <a:pathLst>
                <a:path h="389533" w="623293">
                  <a:moveTo>
                    <a:pt x="0" y="0"/>
                  </a:moveTo>
                  <a:lnTo>
                    <a:pt x="623293" y="0"/>
                  </a:lnTo>
                  <a:lnTo>
                    <a:pt x="623293" y="389533"/>
                  </a:lnTo>
                  <a:lnTo>
                    <a:pt x="0" y="38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5" t="0" r="-3018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23291" cy="38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23464" y="8107413"/>
            <a:ext cx="7620448" cy="28575"/>
            <a:chOff x="0" y="0"/>
            <a:chExt cx="10160597" cy="38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160635" cy="38100"/>
            </a:xfrm>
            <a:custGeom>
              <a:avLst/>
              <a:gdLst/>
              <a:ahLst/>
              <a:cxnLst/>
              <a:rect r="r" b="b" t="t" l="l"/>
              <a:pathLst>
                <a:path h="38100" w="10160635">
                  <a:moveTo>
                    <a:pt x="0" y="0"/>
                  </a:moveTo>
                  <a:lnTo>
                    <a:pt x="10160635" y="0"/>
                  </a:lnTo>
                  <a:lnTo>
                    <a:pt x="1016063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123464" y="8271862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Browser Extension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23464" y="8769696"/>
            <a:ext cx="7620448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Gmail/Outlook integration for end-user protection.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386540" y="837305"/>
            <a:ext cx="7057730" cy="85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4"/>
              </a:lnSpc>
            </a:pPr>
            <a:r>
              <a:rPr lang="en-US" sz="51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81818" y="2216791"/>
            <a:ext cx="701278" cy="701278"/>
          </a:xfrm>
          <a:custGeom>
            <a:avLst/>
            <a:gdLst/>
            <a:ahLst/>
            <a:cxnLst/>
            <a:rect r="r" b="b" t="t" l="l"/>
            <a:pathLst>
              <a:path h="701278" w="701278">
                <a:moveTo>
                  <a:pt x="0" y="0"/>
                </a:moveTo>
                <a:lnTo>
                  <a:pt x="701278" y="0"/>
                </a:lnTo>
                <a:lnTo>
                  <a:pt x="701278" y="701278"/>
                </a:lnTo>
                <a:lnTo>
                  <a:pt x="0" y="701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1818" y="3227632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ML for Cybersecurity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818" y="3740791"/>
            <a:ext cx="5222377" cy="138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PhishGuard AI demonstrates how machine learning can support cybersecurity by detecting suspicious emails automatically.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32807" y="2216791"/>
            <a:ext cx="701278" cy="701278"/>
          </a:xfrm>
          <a:custGeom>
            <a:avLst/>
            <a:gdLst/>
            <a:ahLst/>
            <a:cxnLst/>
            <a:rect r="r" b="b" t="t" l="l"/>
            <a:pathLst>
              <a:path h="701278" w="701278">
                <a:moveTo>
                  <a:pt x="0" y="0"/>
                </a:moveTo>
                <a:lnTo>
                  <a:pt x="701278" y="0"/>
                </a:lnTo>
                <a:lnTo>
                  <a:pt x="701278" y="701278"/>
                </a:lnTo>
                <a:lnTo>
                  <a:pt x="0" y="701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75" r="0" b="-67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32807" y="3227632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Complete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2807" y="3740791"/>
            <a:ext cx="5222377" cy="181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uses a complete pipeline: dataset preparation, text preprocessing, TF-IDF vectorization, model training, prediction, and visual web presentation.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83806" y="2216791"/>
            <a:ext cx="701278" cy="701278"/>
          </a:xfrm>
          <a:custGeom>
            <a:avLst/>
            <a:gdLst/>
            <a:ahLst/>
            <a:cxnLst/>
            <a:rect r="r" b="b" t="t" l="l"/>
            <a:pathLst>
              <a:path h="701278" w="701278">
                <a:moveTo>
                  <a:pt x="0" y="0"/>
                </a:moveTo>
                <a:lnTo>
                  <a:pt x="701278" y="0"/>
                </a:lnTo>
                <a:lnTo>
                  <a:pt x="701278" y="701278"/>
                </a:lnTo>
                <a:lnTo>
                  <a:pt x="0" y="7012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02" t="0" r="-270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083806" y="3227632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Interactive Web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83806" y="3740791"/>
            <a:ext cx="5222377" cy="138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Flask web app makes the project easy to test, explain, and demonstrate during the presentation.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81818" y="6081865"/>
            <a:ext cx="701278" cy="701278"/>
          </a:xfrm>
          <a:custGeom>
            <a:avLst/>
            <a:gdLst/>
            <a:ahLst/>
            <a:cxnLst/>
            <a:rect r="r" b="b" t="t" l="l"/>
            <a:pathLst>
              <a:path h="701278" w="701278">
                <a:moveTo>
                  <a:pt x="0" y="0"/>
                </a:moveTo>
                <a:lnTo>
                  <a:pt x="701278" y="0"/>
                </a:lnTo>
                <a:lnTo>
                  <a:pt x="701278" y="701278"/>
                </a:lnTo>
                <a:lnTo>
                  <a:pt x="0" y="701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377" r="0" b="-337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1818" y="7092706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Accessible ML Power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818" y="7605865"/>
            <a:ext cx="5222377" cy="181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project shows that even a simple and accessible ML model can provide useful phishing detection when trained on a real email dataset.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32807" y="6081865"/>
            <a:ext cx="701278" cy="701278"/>
          </a:xfrm>
          <a:custGeom>
            <a:avLst/>
            <a:gdLst/>
            <a:ahLst/>
            <a:cxnLst/>
            <a:rect r="r" b="b" t="t" l="l"/>
            <a:pathLst>
              <a:path h="701278" w="701278">
                <a:moveTo>
                  <a:pt x="0" y="0"/>
                </a:moveTo>
                <a:lnTo>
                  <a:pt x="701278" y="0"/>
                </a:lnTo>
                <a:lnTo>
                  <a:pt x="701278" y="701278"/>
                </a:lnTo>
                <a:lnTo>
                  <a:pt x="0" y="701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9460" r="0" b="-945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32807" y="7092706"/>
            <a:ext cx="3300260" cy="4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Human-AI Synergy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32807" y="7605865"/>
            <a:ext cx="5222377" cy="181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PhishGuard AI is not a replacement for human awareness, but it is a strong support tool for faster and smarter phishing detection.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76592" y="756790"/>
            <a:ext cx="6677473" cy="71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1"/>
              </a:lnSpc>
            </a:pP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Resources &amp; Tools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318" y="1714500"/>
            <a:ext cx="15942021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robust stack for detection and future-proofing against evolving threats.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38985" y="2308917"/>
            <a:ext cx="1609877" cy="417014"/>
            <a:chOff x="0" y="0"/>
            <a:chExt cx="2146503" cy="5560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427" cy="556006"/>
            </a:xfrm>
            <a:custGeom>
              <a:avLst/>
              <a:gdLst/>
              <a:ahLst/>
              <a:cxnLst/>
              <a:rect r="r" b="b" t="t" l="l"/>
              <a:pathLst>
                <a:path h="556006" w="2146427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08327" y="0"/>
                  </a:lnTo>
                  <a:cubicBezTo>
                    <a:pt x="2129409" y="0"/>
                    <a:pt x="2146427" y="17018"/>
                    <a:pt x="2146427" y="38100"/>
                  </a:cubicBezTo>
                  <a:lnTo>
                    <a:pt x="2146427" y="517906"/>
                  </a:lnTo>
                  <a:cubicBezTo>
                    <a:pt x="2146427" y="538988"/>
                    <a:pt x="2129409" y="556006"/>
                    <a:pt x="2108327" y="556006"/>
                  </a:cubicBezTo>
                  <a:lnTo>
                    <a:pt x="38100" y="556006"/>
                  </a:lnTo>
                  <a:cubicBezTo>
                    <a:pt x="17018" y="556006"/>
                    <a:pt x="0" y="538988"/>
                    <a:pt x="0" y="517906"/>
                  </a:cubicBezTo>
                  <a:close/>
                </a:path>
              </a:pathLst>
            </a:custGeom>
            <a:solidFill>
              <a:srgbClr val="AFCBF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82012" y="2351780"/>
            <a:ext cx="2238223" cy="30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5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CURRENT STACK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401518" y="2939653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254" t="0" r="-1825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01518" y="3773091"/>
            <a:ext cx="2874169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SpamAssassin 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1518" y="4199630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Foundation for training our ML models.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6642202" y="2939653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143" r="0" b="-714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42202" y="3773091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Python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42202" y="4199630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language for development &amp; scripting.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1882885" y="2939653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6" y="0"/>
                </a:lnTo>
                <a:lnTo>
                  <a:pt x="596056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143" r="0" b="-714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882885" y="3773091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Flask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82885" y="4199630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Lightweight web app for interactive demo.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1401518" y="4960296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01518" y="5793734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Scikit-learn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1518" y="6220273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Machine learning algorithms for classification.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6642202" y="4960296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642202" y="5793734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TF-IDF Vectorizer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42202" y="6220273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Transforms email text into numerical features.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11882885" y="4960296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6" y="0"/>
                </a:lnTo>
                <a:lnTo>
                  <a:pt x="596056" y="596056"/>
                </a:lnTo>
                <a:lnTo>
                  <a:pt x="0" y="5960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0635" r="0" b="-20635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882885" y="5793734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Pandas &amp; NumPy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82885" y="6220273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Efficient data handling and numerical operations.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1401518" y="6980930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5"/>
                </a:lnTo>
                <a:lnTo>
                  <a:pt x="0" y="5960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8729" r="0" b="-8729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01518" y="7814367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Joblib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1518" y="8240906"/>
            <a:ext cx="5003302" cy="72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serialization for quick loading and inference.</a:t>
            </a:r>
          </a:p>
        </p:txBody>
      </p:sp>
      <p:sp>
        <p:nvSpPr>
          <p:cNvPr name="Freeform 36" id="36" descr="preencoded.png"/>
          <p:cNvSpPr/>
          <p:nvPr/>
        </p:nvSpPr>
        <p:spPr>
          <a:xfrm flipH="false" flipV="false" rot="0">
            <a:off x="6642202" y="6980930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5" y="0"/>
                </a:lnTo>
                <a:lnTo>
                  <a:pt x="596055" y="596055"/>
                </a:lnTo>
                <a:lnTo>
                  <a:pt x="0" y="5960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16667" r="0" b="-16665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642202" y="7814367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Web Interface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42202" y="8240906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User-friendly frontend for email submission.</a:t>
            </a:r>
          </a:p>
        </p:txBody>
      </p:sp>
      <p:sp>
        <p:nvSpPr>
          <p:cNvPr name="Freeform 39" id="39" descr="preencoded.png"/>
          <p:cNvSpPr/>
          <p:nvPr/>
        </p:nvSpPr>
        <p:spPr>
          <a:xfrm flipH="false" flipV="false" rot="0">
            <a:off x="11882885" y="6980930"/>
            <a:ext cx="596055" cy="596055"/>
          </a:xfrm>
          <a:custGeom>
            <a:avLst/>
            <a:gdLst/>
            <a:ahLst/>
            <a:cxnLst/>
            <a:rect r="r" b="b" t="t" l="l"/>
            <a:pathLst>
              <a:path h="596055" w="596055">
                <a:moveTo>
                  <a:pt x="0" y="0"/>
                </a:moveTo>
                <a:lnTo>
                  <a:pt x="596056" y="0"/>
                </a:lnTo>
                <a:lnTo>
                  <a:pt x="596056" y="596055"/>
                </a:lnTo>
                <a:lnTo>
                  <a:pt x="0" y="596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254" t="0" r="-18254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882885" y="7814367"/>
            <a:ext cx="2805112" cy="3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Testing Samples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82885" y="8240906"/>
            <a:ext cx="500330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Real-world examples for validating detection.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89950" y="3273923"/>
            <a:ext cx="16650891" cy="27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6"/>
              </a:lnSpc>
            </a:pPr>
            <a:r>
              <a:rPr lang="en-US" sz="166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950" y="6362852"/>
            <a:ext cx="16650891" cy="56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 more information or inquiries, please contact 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DAHKWTmDsEg</dc:identifier>
  <dcterms:modified xsi:type="dcterms:W3CDTF">2011-08-01T06:04:30Z</dcterms:modified>
  <cp:revision>1</cp:revision>
  <dc:title>AI POWERED PHISHING FINAL</dc:title>
</cp:coreProperties>
</file>