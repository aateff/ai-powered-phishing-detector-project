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1A2E5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38C-43D4-BE70-ACC579612628}"/>
              </c:ext>
            </c:extLst>
          </c:dPt>
          <c:dPt>
            <c:idx val="1"/>
            <c:invertIfNegative val="0"/>
            <c:bubble3D val="0"/>
            <c:spPr>
              <a:solidFill>
                <a:srgbClr val="5B8DE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38C-43D4-BE70-ACC579612628}"/>
              </c:ext>
            </c:extLst>
          </c:dPt>
          <c:dPt>
            <c:idx val="2"/>
            <c:invertIfNegative val="0"/>
            <c:bubble3D val="0"/>
            <c:spPr>
              <a:solidFill>
                <a:srgbClr val="00D4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38C-43D4-BE70-ACC579612628}"/>
              </c:ext>
            </c:extLst>
          </c:dPt>
          <c:dPt>
            <c:idx val="3"/>
            <c:invertIfNegative val="0"/>
            <c:bubble3D val="0"/>
            <c:spPr>
              <a:solidFill>
                <a:srgbClr val="00FF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38C-43D4-BE70-ACC57961262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C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Naive Bayes</c:v>
                </c:pt>
                <c:pt idx="1">
                  <c:v>Logistic Reg.</c:v>
                </c:pt>
                <c:pt idx="2">
                  <c:v>Random Forest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93.5</c:v>
                </c:pt>
                <c:pt idx="1">
                  <c:v>95</c:v>
                </c:pt>
                <c:pt idx="2">
                  <c:v>97.5</c:v>
                </c:pt>
                <c:pt idx="3">
                  <c:v>98.5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38C-43D4-BE70-ACC5796126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E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8"/>
        </c:scaling>
        <c:delete val="0"/>
        <c:axPos val="l"/>
        <c:majorGridlines>
          <c:spPr>
            <a:ln w="6350" cap="flat">
              <a:solidFill>
                <a:srgbClr val="1E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E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5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4469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Shape 12"/>
          <p:cNvSpPr/>
          <p:nvPr/>
        </p:nvSpPr>
        <p:spPr>
          <a:xfrm>
            <a:off x="109728" y="0"/>
            <a:ext cx="457200" cy="5143500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6858000" y="548640"/>
            <a:ext cx="1920240" cy="192024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22960" y="457200"/>
            <a:ext cx="1371600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4"/>
          <p:cNvSpPr/>
          <p:nvPr/>
        </p:nvSpPr>
        <p:spPr>
          <a:xfrm>
            <a:off x="822960" y="457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UNIVERSITY PROJECT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22960" y="86868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</a:t>
            </a:r>
            <a:endParaRPr lang="en-US" sz="4800" dirty="0"/>
          </a:p>
        </p:txBody>
      </p:sp>
      <p:sp>
        <p:nvSpPr>
          <p:cNvPr id="19" name="Text 16"/>
          <p:cNvSpPr/>
          <p:nvPr/>
        </p:nvSpPr>
        <p:spPr>
          <a:xfrm>
            <a:off x="822960" y="150876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Phishing Detector</a:t>
            </a:r>
            <a:endParaRPr lang="en-US" sz="4400" dirty="0"/>
          </a:p>
        </p:txBody>
      </p:sp>
      <p:sp>
        <p:nvSpPr>
          <p:cNvPr id="20" name="Text 17"/>
          <p:cNvSpPr/>
          <p:nvPr/>
        </p:nvSpPr>
        <p:spPr>
          <a:xfrm>
            <a:off x="822960" y="2423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9EC0"/>
                </a:solidFill>
              </a:rPr>
              <a:t>Machine Learning &amp; NLP for Email Threat Detection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22960" y="2926080"/>
            <a:ext cx="54864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Text 19"/>
          <p:cNvSpPr/>
          <p:nvPr/>
        </p:nvSpPr>
        <p:spPr>
          <a:xfrm>
            <a:off x="822960" y="3108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</a:rPr>
              <a:t>Team:  </a:t>
            </a:r>
            <a:r>
              <a:rPr lang="en-US" sz="1100" b="1" dirty="0">
                <a:solidFill>
                  <a:srgbClr val="E8EFF7"/>
                </a:solidFill>
              </a:rPr>
              <a:t>Malek Ammar · Atef Hammemi · Mohamed Ali Ferchichi · Ali Zrida · Hafidh Aoun</a:t>
            </a:r>
            <a:endParaRPr lang="en-US" sz="1100" b="1" dirty="0"/>
          </a:p>
        </p:txBody>
      </p:sp>
      <p:sp>
        <p:nvSpPr>
          <p:cNvPr id="23" name="Text 20"/>
          <p:cNvSpPr/>
          <p:nvPr/>
        </p:nvSpPr>
        <p:spPr>
          <a:xfrm>
            <a:off x="822960" y="34930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</a:rPr>
              <a:t>Course:  </a:t>
            </a:r>
            <a:r>
              <a:rPr lang="en-US" sz="1100" b="1" dirty="0">
                <a:solidFill>
                  <a:srgbClr val="E8EFF7"/>
                </a:solidFill>
              </a:rPr>
              <a:t>Information Assurance and Security    </a:t>
            </a:r>
            <a:r>
              <a:rPr lang="en-US" sz="1100" b="1" dirty="0">
                <a:solidFill>
                  <a:srgbClr val="00D4FF"/>
                </a:solidFill>
              </a:rPr>
              <a:t>  |  Teacher:  </a:t>
            </a:r>
            <a:r>
              <a:rPr lang="en-US" sz="1100" b="1" dirty="0">
                <a:solidFill>
                  <a:srgbClr val="E8EFF7"/>
                </a:solidFill>
              </a:rPr>
              <a:t>Manel Abdelkader    </a:t>
            </a:r>
            <a:r>
              <a:rPr lang="en-US" sz="1100" b="1" dirty="0">
                <a:solidFill>
                  <a:srgbClr val="7A9EC0"/>
                </a:solidFill>
              </a:rPr>
              <a:t>  </a:t>
            </a:r>
            <a:endParaRPr lang="en-US" sz="11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502920" y="1005840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365760" y="1024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9EC0"/>
                </a:solidFill>
              </a:rPr>
              <a:t>What the system does and who it serves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1417320"/>
            <a:ext cx="2560320" cy="320040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7" name="Shape 15"/>
          <p:cNvSpPr/>
          <p:nvPr/>
        </p:nvSpPr>
        <p:spPr>
          <a:xfrm>
            <a:off x="365760" y="1417320"/>
            <a:ext cx="256032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00200"/>
            <a:ext cx="548640" cy="5486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5720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CLASSIFY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02920" y="274320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EFF7"/>
                </a:solidFill>
              </a:rPr>
              <a:t>Binary label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EFF7"/>
                </a:solidFill>
              </a:rPr>
              <a:t>Phish / Ham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EFF7"/>
                </a:solidFill>
              </a:rPr>
              <a:t>with confidence score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383280" y="1417320"/>
            <a:ext cx="2560320" cy="320040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2" name="Shape 19"/>
          <p:cNvSpPr/>
          <p:nvPr/>
        </p:nvSpPr>
        <p:spPr>
          <a:xfrm>
            <a:off x="3383280" y="1417320"/>
            <a:ext cx="2560320" cy="64008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600200"/>
            <a:ext cx="548640" cy="5486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47472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FF9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EXTRACT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3520440" y="274320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EFF7"/>
                </a:solidFill>
              </a:rPr>
              <a:t>Urgency cues, suspicious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EFF7"/>
                </a:solidFill>
              </a:rPr>
              <a:t>links, header anomalies,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EFF7"/>
                </a:solidFill>
              </a:rPr>
              <a:t>sender mismatches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400800" y="1417320"/>
            <a:ext cx="2560320" cy="320040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7" name="Shape 23"/>
          <p:cNvSpPr/>
          <p:nvPr/>
        </p:nvSpPr>
        <p:spPr>
          <a:xfrm>
            <a:off x="6400800" y="1417320"/>
            <a:ext cx="2560320" cy="64008"/>
          </a:xfrm>
          <a:prstGeom prst="rect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1600200"/>
            <a:ext cx="548640" cy="54864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49224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4D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EXPLAIN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6537960" y="274320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EFF7"/>
                </a:solidFill>
              </a:rPr>
              <a:t>SHAP values surface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EFF7"/>
                </a:solidFill>
              </a:rPr>
              <a:t>key features driving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EFF7"/>
                </a:solidFill>
              </a:rPr>
              <a:t>each decision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36576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9EC0"/>
                </a:solidFill>
              </a:rPr>
              <a:t>Target Audience: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365760" y="4709160"/>
            <a:ext cx="2011680" cy="274320"/>
          </a:xfrm>
          <a:prstGeom prst="roundRect">
            <a:avLst>
              <a:gd name="adj" fmla="val 13333"/>
            </a:avLst>
          </a:prstGeom>
          <a:solidFill>
            <a:srgbClr val="1A2540"/>
          </a:solidFill>
          <a:ln w="63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3" name="Text 28"/>
          <p:cNvSpPr/>
          <p:nvPr/>
        </p:nvSpPr>
        <p:spPr>
          <a:xfrm>
            <a:off x="365760" y="4709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D4FF"/>
                </a:solidFill>
              </a:rPr>
              <a:t>SOC Analysts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2514600" y="4709160"/>
            <a:ext cx="2011680" cy="274320"/>
          </a:xfrm>
          <a:prstGeom prst="roundRect">
            <a:avLst>
              <a:gd name="adj" fmla="val 13333"/>
            </a:avLst>
          </a:prstGeom>
          <a:solidFill>
            <a:srgbClr val="1A2540"/>
          </a:solidFill>
          <a:ln w="63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5" name="Text 30"/>
          <p:cNvSpPr/>
          <p:nvPr/>
        </p:nvSpPr>
        <p:spPr>
          <a:xfrm>
            <a:off x="2514600" y="4709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D4FF"/>
                </a:solidFill>
              </a:rPr>
              <a:t>IT Administrators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4663440" y="4709160"/>
            <a:ext cx="2011680" cy="274320"/>
          </a:xfrm>
          <a:prstGeom prst="roundRect">
            <a:avLst>
              <a:gd name="adj" fmla="val 13333"/>
            </a:avLst>
          </a:prstGeom>
          <a:solidFill>
            <a:srgbClr val="1A2540"/>
          </a:solidFill>
          <a:ln w="63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7" name="Text 32"/>
          <p:cNvSpPr/>
          <p:nvPr/>
        </p:nvSpPr>
        <p:spPr>
          <a:xfrm>
            <a:off x="4663440" y="4709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D4FF"/>
                </a:solidFill>
              </a:rPr>
              <a:t>End Users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6812280" y="4709160"/>
            <a:ext cx="2011680" cy="274320"/>
          </a:xfrm>
          <a:prstGeom prst="roundRect">
            <a:avLst>
              <a:gd name="adj" fmla="val 13333"/>
            </a:avLst>
          </a:prstGeom>
          <a:solidFill>
            <a:srgbClr val="1A2540"/>
          </a:solidFill>
          <a:ln w="63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9" name="Text 34"/>
          <p:cNvSpPr/>
          <p:nvPr/>
        </p:nvSpPr>
        <p:spPr>
          <a:xfrm>
            <a:off x="6812280" y="4709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D4FF"/>
                </a:solidFill>
              </a:rPr>
              <a:t>Security Researchers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Email as a Data Structure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502920" y="1005840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320040" y="99905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9EC0"/>
                </a:solidFill>
              </a:rPr>
              <a:t>How the detector parses and decodes incoming messages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1371600"/>
            <a:ext cx="4023360" cy="347472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7" name="Shape 15"/>
          <p:cNvSpPr/>
          <p:nvPr/>
        </p:nvSpPr>
        <p:spPr>
          <a:xfrm>
            <a:off x="365760" y="1374500"/>
            <a:ext cx="402336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/>
          <p:nvPr/>
        </p:nvSpPr>
        <p:spPr>
          <a:xfrm>
            <a:off x="50292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HEADERS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1874520"/>
            <a:ext cx="54864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658368" y="1874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7"/>
                </a:solidFill>
              </a:rPr>
              <a:t>From / Reply-To / Return-Path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2359152"/>
            <a:ext cx="54864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/>
          <p:nvPr/>
        </p:nvSpPr>
        <p:spPr>
          <a:xfrm>
            <a:off x="658368" y="23591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7"/>
                </a:solidFill>
              </a:rPr>
              <a:t>DKIM Signature verification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2843784"/>
            <a:ext cx="54864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658368" y="28437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7"/>
                </a:solidFill>
              </a:rPr>
              <a:t>SPF policy result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3328416"/>
            <a:ext cx="54864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/>
          <p:nvPr/>
        </p:nvSpPr>
        <p:spPr>
          <a:xfrm>
            <a:off x="658368" y="33284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7"/>
                </a:solidFill>
              </a:rPr>
              <a:t>DMARC alignment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3813048"/>
            <a:ext cx="54864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658368" y="3813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7"/>
                </a:solidFill>
              </a:rPr>
              <a:t>Received chain analysis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1371600"/>
            <a:ext cx="4023360" cy="347472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30" name="Shape 28"/>
          <p:cNvSpPr/>
          <p:nvPr/>
        </p:nvSpPr>
        <p:spPr>
          <a:xfrm>
            <a:off x="4754880" y="1371600"/>
            <a:ext cx="4023360" cy="64008"/>
          </a:xfrm>
          <a:prstGeom prst="rect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/>
          <p:nvPr/>
        </p:nvSpPr>
        <p:spPr>
          <a:xfrm>
            <a:off x="489204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BODY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92040" y="1874520"/>
            <a:ext cx="54864" cy="274320"/>
          </a:xfrm>
          <a:prstGeom prst="rect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3" name="Text 31"/>
          <p:cNvSpPr/>
          <p:nvPr/>
        </p:nvSpPr>
        <p:spPr>
          <a:xfrm>
            <a:off x="5047488" y="1874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7"/>
                </a:solidFill>
              </a:rPr>
              <a:t>Plain text / HTML / Multipart MIME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92040" y="2359152"/>
            <a:ext cx="54864" cy="274320"/>
          </a:xfrm>
          <a:prstGeom prst="rect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5" name="Text 33"/>
          <p:cNvSpPr/>
          <p:nvPr/>
        </p:nvSpPr>
        <p:spPr>
          <a:xfrm>
            <a:off x="5047488" y="23591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7"/>
                </a:solidFill>
              </a:rPr>
              <a:t>MIME decoding (base64, quoted-printable)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92040" y="2843784"/>
            <a:ext cx="54864" cy="274320"/>
          </a:xfrm>
          <a:prstGeom prst="rect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7" name="Text 35"/>
          <p:cNvSpPr/>
          <p:nvPr/>
        </p:nvSpPr>
        <p:spPr>
          <a:xfrm>
            <a:off x="5047488" y="28437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7"/>
                </a:solidFill>
              </a:rPr>
              <a:t>HTML stripping → visible text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92040" y="3328416"/>
            <a:ext cx="54864" cy="274320"/>
          </a:xfrm>
          <a:prstGeom prst="rect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9" name="Text 37"/>
          <p:cNvSpPr/>
          <p:nvPr/>
        </p:nvSpPr>
        <p:spPr>
          <a:xfrm>
            <a:off x="5047488" y="33284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7"/>
                </a:solidFill>
              </a:rPr>
              <a:t>href extraction (independent of anchor)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92040" y="3813048"/>
            <a:ext cx="54864" cy="274320"/>
          </a:xfrm>
          <a:prstGeom prst="rect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1" name="Text 39"/>
          <p:cNvSpPr/>
          <p:nvPr/>
        </p:nvSpPr>
        <p:spPr>
          <a:xfrm>
            <a:off x="5047488" y="3813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7"/>
                </a:solidFill>
              </a:rPr>
              <a:t>Attachment: MIME type, extension, hash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43" name="Text 41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D4FF"/>
                </a:solidFill>
              </a:rPr>
              <a:t>⚠  Header inconsistencies are among the strongest phishing signals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Text Preprocessing Pipeline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502920" y="1005840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36576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9EC0"/>
                </a:solidFill>
              </a:rPr>
              <a:t>Transforming raw email content into model-ready input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1371600"/>
            <a:ext cx="1554480" cy="256032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7" name="Shape 15"/>
          <p:cNvSpPr/>
          <p:nvPr/>
        </p:nvSpPr>
        <p:spPr>
          <a:xfrm>
            <a:off x="320040" y="1371600"/>
            <a:ext cx="155448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/>
          <p:nvPr/>
        </p:nvSpPr>
        <p:spPr>
          <a:xfrm>
            <a:off x="320040" y="1463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93192" y="20574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Lowercase &amp; Normalize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3192" y="269748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EC0"/>
                </a:solidFill>
              </a:rPr>
              <a:t>Reduce vocabulary size, prevent duplicate tokens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92808" y="2606040"/>
            <a:ext cx="128016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Shape 20"/>
          <p:cNvSpPr/>
          <p:nvPr/>
        </p:nvSpPr>
        <p:spPr>
          <a:xfrm>
            <a:off x="2039112" y="1371600"/>
            <a:ext cx="1554480" cy="256032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3" name="Shape 21"/>
          <p:cNvSpPr/>
          <p:nvPr/>
        </p:nvSpPr>
        <p:spPr>
          <a:xfrm>
            <a:off x="2039112" y="1371600"/>
            <a:ext cx="1554480" cy="6400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2039112" y="1463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B8D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2112264" y="20574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Tokenize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12264" y="269748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EC0"/>
                </a:solidFill>
              </a:rPr>
              <a:t>Word-piece units for transformers; words for classical models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11880" y="2606040"/>
            <a:ext cx="128016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Shape 26"/>
          <p:cNvSpPr/>
          <p:nvPr/>
        </p:nvSpPr>
        <p:spPr>
          <a:xfrm>
            <a:off x="3758184" y="1371600"/>
            <a:ext cx="1554480" cy="256032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9" name="Shape 27"/>
          <p:cNvSpPr/>
          <p:nvPr/>
        </p:nvSpPr>
        <p:spPr>
          <a:xfrm>
            <a:off x="3758184" y="1371600"/>
            <a:ext cx="1554480" cy="64008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/>
          <p:nvPr/>
        </p:nvSpPr>
        <p:spPr>
          <a:xfrm>
            <a:off x="3758184" y="1463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FF9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3831336" y="20574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Stop-word Removal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31336" y="269748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EC0"/>
                </a:solidFill>
              </a:rPr>
              <a:t>Drop non-discriminative common words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30952" y="2606040"/>
            <a:ext cx="128016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Shape 32"/>
          <p:cNvSpPr/>
          <p:nvPr/>
        </p:nvSpPr>
        <p:spPr>
          <a:xfrm>
            <a:off x="5477256" y="1371600"/>
            <a:ext cx="1554480" cy="256032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35" name="Shape 33"/>
          <p:cNvSpPr/>
          <p:nvPr/>
        </p:nvSpPr>
        <p:spPr>
          <a:xfrm>
            <a:off x="5477256" y="1371600"/>
            <a:ext cx="155448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6" name="Text 34"/>
          <p:cNvSpPr/>
          <p:nvPr/>
        </p:nvSpPr>
        <p:spPr>
          <a:xfrm>
            <a:off x="5477256" y="1463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550408" y="20574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Stem / Lemmatize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50408" y="269748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EC0"/>
                </a:solidFill>
              </a:rPr>
              <a:t>Reduce inflected forms → base (verifying → verify)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050024" y="2606040"/>
            <a:ext cx="128016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0" name="Shape 38"/>
          <p:cNvSpPr/>
          <p:nvPr/>
        </p:nvSpPr>
        <p:spPr>
          <a:xfrm>
            <a:off x="7196328" y="1371600"/>
            <a:ext cx="1554480" cy="256032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41" name="Shape 39"/>
          <p:cNvSpPr/>
          <p:nvPr/>
        </p:nvSpPr>
        <p:spPr>
          <a:xfrm>
            <a:off x="7196328" y="1371600"/>
            <a:ext cx="1554480" cy="64008"/>
          </a:xfrm>
          <a:prstGeom prst="rect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2" name="Text 40"/>
          <p:cNvSpPr/>
          <p:nvPr/>
        </p:nvSpPr>
        <p:spPr>
          <a:xfrm>
            <a:off x="7196328" y="1463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4D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7269480" y="20574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TF-IDF Vectorize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269480" y="269748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EC0"/>
                </a:solidFill>
              </a:rPr>
              <a:t>Token list → numerical vector; standard input for Scikit-learn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" y="4160520"/>
            <a:ext cx="8503920" cy="731520"/>
          </a:xfrm>
          <a:prstGeom prst="rect">
            <a:avLst/>
          </a:prstGeom>
          <a:solidFill>
            <a:srgbClr val="0A1526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46" name="Text 44"/>
          <p:cNvSpPr/>
          <p:nvPr/>
        </p:nvSpPr>
        <p:spPr>
          <a:xfrm>
            <a:off x="502920" y="416052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OUTPUT: 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463040" y="416052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7"/>
                </a:solidFill>
              </a:rPr>
              <a:t>Fixed-length feature vector of TF-IDF weights → fed directly into the Classification Engine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Extraction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502920" y="1005840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438912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9EC0"/>
                </a:solidFill>
              </a:rPr>
              <a:t>Six signal categories translated into the numerical feature vector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1371600"/>
            <a:ext cx="4160520" cy="100584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7" name="Shape 15"/>
          <p:cNvSpPr/>
          <p:nvPr/>
        </p:nvSpPr>
        <p:spPr>
          <a:xfrm>
            <a:off x="365760" y="1371600"/>
            <a:ext cx="73152" cy="1005840"/>
          </a:xfrm>
          <a:prstGeom prst="rect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/>
          <p:nvPr/>
        </p:nvSpPr>
        <p:spPr>
          <a:xfrm>
            <a:off x="548640" y="14447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4D6A"/>
                </a:solidFill>
              </a:rPr>
              <a:t>Urgency / Emotion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18470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EC0"/>
                </a:solidFill>
              </a:rPr>
              <a:t>High keyword count → phishing intent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160520" cy="100584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73152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/>
          <p:nvPr/>
        </p:nvSpPr>
        <p:spPr>
          <a:xfrm>
            <a:off x="548640" y="26151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4FF"/>
                </a:solidFill>
              </a:rPr>
              <a:t>Suspicious Links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3017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EC0"/>
                </a:solidFill>
              </a:rPr>
              <a:t>Disguised URLs are the primary delivery vector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712464"/>
            <a:ext cx="4160520" cy="100584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5" name="Shape 23"/>
          <p:cNvSpPr/>
          <p:nvPr/>
        </p:nvSpPr>
        <p:spPr>
          <a:xfrm>
            <a:off x="365760" y="3712464"/>
            <a:ext cx="73152" cy="10058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/>
          <p:nvPr/>
        </p:nvSpPr>
        <p:spPr>
          <a:xfrm>
            <a:off x="548640" y="37856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</a:rPr>
              <a:t>Sender Mismatch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41879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EC0"/>
                </a:solidFill>
              </a:rPr>
              <a:t>Spoofed identity is a defining phishing trait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1371600"/>
            <a:ext cx="4160520" cy="100584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9" name="Shape 27"/>
          <p:cNvSpPr/>
          <p:nvPr/>
        </p:nvSpPr>
        <p:spPr>
          <a:xfrm>
            <a:off x="4800600" y="137160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/>
          <p:nvPr/>
        </p:nvSpPr>
        <p:spPr>
          <a:xfrm>
            <a:off x="4983480" y="14447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</a:rPr>
              <a:t>HTML Anomalies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983480" y="18470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EC0"/>
                </a:solidFill>
              </a:rPr>
              <a:t>Hidden text, zero-font, credential-harvesting forms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2542032"/>
            <a:ext cx="4160520" cy="100584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33" name="Shape 31"/>
          <p:cNvSpPr/>
          <p:nvPr/>
        </p:nvSpPr>
        <p:spPr>
          <a:xfrm>
            <a:off x="4800600" y="2542032"/>
            <a:ext cx="73152" cy="100584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/>
          <p:nvPr/>
        </p:nvSpPr>
        <p:spPr>
          <a:xfrm>
            <a:off x="4983480" y="26151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FF9F"/>
                </a:solidFill>
              </a:rPr>
              <a:t>Linguistic / NLP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983480" y="3017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EC0"/>
                </a:solidFill>
              </a:rPr>
              <a:t>LLM phishing is grammatically perfect but impersonal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00600" y="3712464"/>
            <a:ext cx="4160520" cy="100584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37" name="Shape 35"/>
          <p:cNvSpPr/>
          <p:nvPr/>
        </p:nvSpPr>
        <p:spPr>
          <a:xfrm>
            <a:off x="4800600" y="3712464"/>
            <a:ext cx="73152" cy="10058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/>
          <p:nvPr/>
        </p:nvSpPr>
        <p:spPr>
          <a:xfrm>
            <a:off x="4983480" y="37856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B923C"/>
                </a:solidFill>
              </a:rPr>
              <a:t>Attachment Risk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983480" y="41879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EC0"/>
                </a:solidFill>
              </a:rPr>
              <a:t>Executable &amp; macro files = common malware vectors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Threat Vectors &amp; Attack Patterns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502920" y="921292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457200" y="972471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9EC0"/>
                </a:solidFill>
              </a:rPr>
              <a:t>Modern evasion strategies the detector must handle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1371600"/>
            <a:ext cx="8412480" cy="658368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7" name="Shape 15"/>
          <p:cNvSpPr/>
          <p:nvPr/>
        </p:nvSpPr>
        <p:spPr>
          <a:xfrm>
            <a:off x="365760" y="1371600"/>
            <a:ext cx="64008" cy="658368"/>
          </a:xfrm>
          <a:prstGeom prst="rect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/>
          <p:nvPr/>
        </p:nvSpPr>
        <p:spPr>
          <a:xfrm>
            <a:off x="548640" y="14173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D6A"/>
                </a:solidFill>
              </a:rPr>
              <a:t>Spear Phishing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17190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EC0"/>
                </a:solidFill>
              </a:rPr>
              <a:t>Personalised emails using OSINT data targeting specific individuals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94960" y="1481328"/>
            <a:ext cx="3246120" cy="411480"/>
          </a:xfrm>
          <a:prstGeom prst="rect">
            <a:avLst/>
          </a:prstGeom>
          <a:solidFill>
            <a:srgbClr val="0A1E35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/>
          <p:nvPr/>
        </p:nvSpPr>
        <p:spPr>
          <a:xfrm>
            <a:off x="5440680" y="148132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9F"/>
                </a:solidFill>
              </a:rPr>
              <a:t>✓  Sender mismatch + context-aware NLP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103120"/>
            <a:ext cx="8412480" cy="658368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3" name="Shape 21"/>
          <p:cNvSpPr/>
          <p:nvPr/>
        </p:nvSpPr>
        <p:spPr>
          <a:xfrm>
            <a:off x="365760" y="2103120"/>
            <a:ext cx="64008" cy="658368"/>
          </a:xfrm>
          <a:prstGeom prst="rect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548640" y="21488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D6A"/>
                </a:solidFill>
              </a:rPr>
              <a:t>LLM-Generated Phish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2450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EC0"/>
                </a:solidFill>
              </a:rPr>
              <a:t>Grammatically perfect AI-written emails that bypass spell-check heuristics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94960" y="2212848"/>
            <a:ext cx="3246120" cy="411480"/>
          </a:xfrm>
          <a:prstGeom prst="rect">
            <a:avLst/>
          </a:prstGeom>
          <a:solidFill>
            <a:srgbClr val="0A1E35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/>
          <p:nvPr/>
        </p:nvSpPr>
        <p:spPr>
          <a:xfrm>
            <a:off x="5440680" y="221284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9F"/>
                </a:solidFill>
              </a:rPr>
              <a:t>✓  Fine-tuned classifier on AI phishing corpus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2834640"/>
            <a:ext cx="8412480" cy="658368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9" name="Shape 27"/>
          <p:cNvSpPr/>
          <p:nvPr/>
        </p:nvSpPr>
        <p:spPr>
          <a:xfrm>
            <a:off x="365760" y="2834640"/>
            <a:ext cx="64008" cy="658368"/>
          </a:xfrm>
          <a:prstGeom prst="rect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/>
          <p:nvPr/>
        </p:nvSpPr>
        <p:spPr>
          <a:xfrm>
            <a:off x="548640" y="28803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D6A"/>
                </a:solidFill>
              </a:rPr>
              <a:t>Homograph Attack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31821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EC0"/>
                </a:solidFill>
              </a:rPr>
              <a:t>Unicode lookalike characters in domain names (paypaI.com)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94960" y="2944368"/>
            <a:ext cx="3246120" cy="411480"/>
          </a:xfrm>
          <a:prstGeom prst="rect">
            <a:avLst/>
          </a:prstGeom>
          <a:solidFill>
            <a:srgbClr val="0A1E35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3" name="Text 31"/>
          <p:cNvSpPr/>
          <p:nvPr/>
        </p:nvSpPr>
        <p:spPr>
          <a:xfrm>
            <a:off x="5440680" y="294436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9F"/>
                </a:solidFill>
              </a:rPr>
              <a:t>✓  Unicode normalisation + Levenshtein distance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3566160"/>
            <a:ext cx="8412480" cy="658368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35" name="Shape 33"/>
          <p:cNvSpPr/>
          <p:nvPr/>
        </p:nvSpPr>
        <p:spPr>
          <a:xfrm>
            <a:off x="365760" y="3566160"/>
            <a:ext cx="64008" cy="658368"/>
          </a:xfrm>
          <a:prstGeom prst="rect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6" name="Text 34"/>
          <p:cNvSpPr/>
          <p:nvPr/>
        </p:nvSpPr>
        <p:spPr>
          <a:xfrm>
            <a:off x="548640" y="36118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D6A"/>
                </a:solidFill>
              </a:rPr>
              <a:t>HTML Obfuscation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3913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EC0"/>
                </a:solidFill>
              </a:rPr>
              <a:t>Real URL hidden behind benign anchor text; zero-font invisible text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394960" y="3675888"/>
            <a:ext cx="3246120" cy="411480"/>
          </a:xfrm>
          <a:prstGeom prst="rect">
            <a:avLst/>
          </a:prstGeom>
          <a:solidFill>
            <a:srgbClr val="0A1E35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9" name="Text 37"/>
          <p:cNvSpPr/>
          <p:nvPr/>
        </p:nvSpPr>
        <p:spPr>
          <a:xfrm>
            <a:off x="5440680" y="367588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9F"/>
                </a:solidFill>
              </a:rPr>
              <a:t>✓  HTML parser extracts raw href independently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4297680"/>
            <a:ext cx="8412480" cy="658368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41" name="Shape 39"/>
          <p:cNvSpPr/>
          <p:nvPr/>
        </p:nvSpPr>
        <p:spPr>
          <a:xfrm>
            <a:off x="365760" y="4297680"/>
            <a:ext cx="64008" cy="658368"/>
          </a:xfrm>
          <a:prstGeom prst="rect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2" name="Text 40"/>
          <p:cNvSpPr/>
          <p:nvPr/>
        </p:nvSpPr>
        <p:spPr>
          <a:xfrm>
            <a:off x="548640" y="43434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D6A"/>
                </a:solidFill>
              </a:rPr>
              <a:t>Brand Impersonation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46451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EC0"/>
                </a:solidFill>
              </a:rPr>
              <a:t>Mimics trusted brands (banks, government, tech) in logo and tone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394960" y="4407408"/>
            <a:ext cx="3246120" cy="411480"/>
          </a:xfrm>
          <a:prstGeom prst="rect">
            <a:avLst/>
          </a:prstGeom>
          <a:solidFill>
            <a:srgbClr val="0A1E35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5" name="Text 43"/>
          <p:cNvSpPr/>
          <p:nvPr/>
        </p:nvSpPr>
        <p:spPr>
          <a:xfrm>
            <a:off x="5440680" y="440740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9F"/>
                </a:solidFill>
              </a:rPr>
              <a:t>✓  Brand keyword list + domain mismatch check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411480" y="239279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490638" y="937806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423762" y="94804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9EC0"/>
                </a:solidFill>
              </a:rPr>
              <a:t>Four logical layers with distinct responsibilities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1330452"/>
            <a:ext cx="8412480" cy="77724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7" name="Shape 15"/>
          <p:cNvSpPr/>
          <p:nvPr/>
        </p:nvSpPr>
        <p:spPr>
          <a:xfrm>
            <a:off x="365760" y="1339596"/>
            <a:ext cx="2194560" cy="777240"/>
          </a:xfrm>
          <a:prstGeom prst="rect">
            <a:avLst/>
          </a:prstGeom>
          <a:solidFill>
            <a:srgbClr val="00D4FF">
              <a:alpha val="18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/>
          <p:nvPr/>
        </p:nvSpPr>
        <p:spPr>
          <a:xfrm>
            <a:off x="555464" y="1556391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66943" y="1556391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</a:rPr>
              <a:t>Ingestion Layer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97480" y="1417320"/>
            <a:ext cx="5897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7"/>
                </a:solidFill>
              </a:rPr>
              <a:t>.eml files · IMAP/POP3 · MIME decode · UTF-8 normalise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0" y="2121408"/>
            <a:ext cx="0" cy="914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Shape 20"/>
          <p:cNvSpPr/>
          <p:nvPr/>
        </p:nvSpPr>
        <p:spPr>
          <a:xfrm>
            <a:off x="365760" y="2221992"/>
            <a:ext cx="8412480" cy="77724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3" name="Shape 21"/>
          <p:cNvSpPr/>
          <p:nvPr/>
        </p:nvSpPr>
        <p:spPr>
          <a:xfrm>
            <a:off x="384048" y="2231955"/>
            <a:ext cx="2194560" cy="777240"/>
          </a:xfrm>
          <a:prstGeom prst="rect">
            <a:avLst/>
          </a:prstGeom>
          <a:solidFill>
            <a:srgbClr val="5B8DEF">
              <a:alpha val="18000"/>
            </a:srgbClr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576072" y="242329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8D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0120" y="241401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8DEF"/>
                </a:solidFill>
              </a:rPr>
              <a:t>Feature Engineering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97480" y="2313432"/>
            <a:ext cx="5897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7"/>
                </a:solidFill>
              </a:rPr>
              <a:t>TF-IDF · URL validation · DKIM/SPF/DMARC checks · feature vector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89120" y="3017520"/>
            <a:ext cx="0" cy="91440"/>
          </a:xfrm>
          <a:prstGeom prst="line">
            <a:avLst/>
          </a:prstGeom>
          <a:noFill/>
          <a:ln w="1905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Shape 26"/>
          <p:cNvSpPr/>
          <p:nvPr/>
        </p:nvSpPr>
        <p:spPr>
          <a:xfrm>
            <a:off x="365760" y="3118104"/>
            <a:ext cx="8412480" cy="77724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9" name="Shape 27"/>
          <p:cNvSpPr/>
          <p:nvPr/>
        </p:nvSpPr>
        <p:spPr>
          <a:xfrm>
            <a:off x="365760" y="3127248"/>
            <a:ext cx="2194560" cy="777240"/>
          </a:xfrm>
          <a:prstGeom prst="rect">
            <a:avLst/>
          </a:prstGeom>
          <a:solidFill>
            <a:srgbClr val="00FF9F">
              <a:alpha val="18000"/>
            </a:srgbClr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/>
          <p:nvPr/>
        </p:nvSpPr>
        <p:spPr>
          <a:xfrm>
            <a:off x="578323" y="3332851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FF9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66943" y="3328211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9F"/>
                </a:solidFill>
              </a:rPr>
              <a:t>Classification Engine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697480" y="3209544"/>
            <a:ext cx="5897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7"/>
                </a:solidFill>
              </a:rPr>
              <a:t>Scikit-learn pipeline or transformer · binary label + probability [0,1]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389120" y="3913632"/>
            <a:ext cx="0" cy="91440"/>
          </a:xfrm>
          <a:prstGeom prst="line">
            <a:avLst/>
          </a:prstGeom>
          <a:noFill/>
          <a:ln w="1905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Shape 32"/>
          <p:cNvSpPr/>
          <p:nvPr/>
        </p:nvSpPr>
        <p:spPr>
          <a:xfrm>
            <a:off x="365760" y="4014216"/>
            <a:ext cx="8412480" cy="77724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35" name="Shape 33"/>
          <p:cNvSpPr/>
          <p:nvPr/>
        </p:nvSpPr>
        <p:spPr>
          <a:xfrm>
            <a:off x="365760" y="4014216"/>
            <a:ext cx="2194560" cy="777240"/>
          </a:xfrm>
          <a:prstGeom prst="rect">
            <a:avLst/>
          </a:prstGeom>
          <a:solidFill>
            <a:srgbClr val="FF4D6A">
              <a:alpha val="18000"/>
            </a:srgbClr>
          </a:solidFill>
          <a:ln w="1270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6" name="Text 34"/>
          <p:cNvSpPr/>
          <p:nvPr/>
        </p:nvSpPr>
        <p:spPr>
          <a:xfrm>
            <a:off x="557783" y="424465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D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937261" y="421709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D6A"/>
                </a:solidFill>
              </a:rPr>
              <a:t>Output &amp; Alerting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697480" y="4105656"/>
            <a:ext cx="5897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7"/>
                </a:solidFill>
              </a:rPr>
              <a:t>JSON report · quarantine · SOC dashboard · SIEM webhook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02920" y="1344168"/>
            <a:ext cx="54864" cy="347472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0" name="Shape 38"/>
          <p:cNvSpPr/>
          <p:nvPr/>
        </p:nvSpPr>
        <p:spPr>
          <a:xfrm>
            <a:off x="411480" y="1609344"/>
            <a:ext cx="237744" cy="237744"/>
          </a:xfrm>
          <a:prstGeom prst="ellipse">
            <a:avLst/>
          </a:prstGeom>
          <a:solidFill>
            <a:srgbClr val="0A0E1A"/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1" name="Shape 39"/>
          <p:cNvSpPr/>
          <p:nvPr/>
        </p:nvSpPr>
        <p:spPr>
          <a:xfrm>
            <a:off x="411480" y="2505456"/>
            <a:ext cx="237744" cy="237744"/>
          </a:xfrm>
          <a:prstGeom prst="ellipse">
            <a:avLst/>
          </a:prstGeom>
          <a:solidFill>
            <a:srgbClr val="0A0E1A"/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2" name="Shape 40"/>
          <p:cNvSpPr/>
          <p:nvPr/>
        </p:nvSpPr>
        <p:spPr>
          <a:xfrm>
            <a:off x="411480" y="3401568"/>
            <a:ext cx="237744" cy="237744"/>
          </a:xfrm>
          <a:prstGeom prst="ellipse">
            <a:avLst/>
          </a:prstGeom>
          <a:solidFill>
            <a:srgbClr val="0A0E1A"/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3" name="Shape 41"/>
          <p:cNvSpPr/>
          <p:nvPr/>
        </p:nvSpPr>
        <p:spPr>
          <a:xfrm>
            <a:off x="411480" y="4297680"/>
            <a:ext cx="237744" cy="237744"/>
          </a:xfrm>
          <a:prstGeom prst="ellipse">
            <a:avLst/>
          </a:prstGeom>
          <a:solidFill>
            <a:srgbClr val="0A0E1A"/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12-Step Functional Flow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502920" y="958482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457200" y="97677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9EC0"/>
                </a:solidFill>
              </a:rPr>
              <a:t>End-to-end operational sequence from ingestion to alerting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1371600"/>
            <a:ext cx="1325880" cy="132588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7" name="Shape 15"/>
          <p:cNvSpPr/>
          <p:nvPr/>
        </p:nvSpPr>
        <p:spPr>
          <a:xfrm>
            <a:off x="320040" y="1371600"/>
            <a:ext cx="132588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/>
          <p:nvPr/>
        </p:nvSpPr>
        <p:spPr>
          <a:xfrm>
            <a:off x="320040" y="14630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74904" y="1920240"/>
            <a:ext cx="12161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FF7"/>
                </a:solidFill>
              </a:rPr>
              <a:t>Ingestion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755648" y="1371600"/>
            <a:ext cx="1325880" cy="132588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>
            <a:off x="1755648" y="1371600"/>
            <a:ext cx="132588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/>
          <p:nvPr/>
        </p:nvSpPr>
        <p:spPr>
          <a:xfrm>
            <a:off x="1755648" y="14630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810512" y="1920240"/>
            <a:ext cx="12161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FF7"/>
                </a:solidFill>
              </a:rPr>
              <a:t>Header Parsing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91256" y="1371600"/>
            <a:ext cx="1325880" cy="132588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5" name="Shape 23"/>
          <p:cNvSpPr/>
          <p:nvPr/>
        </p:nvSpPr>
        <p:spPr>
          <a:xfrm>
            <a:off x="3191256" y="1371600"/>
            <a:ext cx="1325880" cy="6400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/>
          <p:nvPr/>
        </p:nvSpPr>
        <p:spPr>
          <a:xfrm>
            <a:off x="3191256" y="14630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8D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246120" y="1920240"/>
            <a:ext cx="12161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FF7"/>
                </a:solidFill>
              </a:rPr>
              <a:t>HTML Rendering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26864" y="1371600"/>
            <a:ext cx="1325880" cy="132588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9" name="Shape 27"/>
          <p:cNvSpPr/>
          <p:nvPr/>
        </p:nvSpPr>
        <p:spPr>
          <a:xfrm>
            <a:off x="4626864" y="1371600"/>
            <a:ext cx="1325880" cy="6400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/>
          <p:nvPr/>
        </p:nvSpPr>
        <p:spPr>
          <a:xfrm>
            <a:off x="4626864" y="14630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8D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681728" y="1920240"/>
            <a:ext cx="12161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FF7"/>
                </a:solidFill>
              </a:rPr>
              <a:t>Text Preprocessing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62472" y="1371600"/>
            <a:ext cx="1325880" cy="132588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33" name="Shape 31"/>
          <p:cNvSpPr/>
          <p:nvPr/>
        </p:nvSpPr>
        <p:spPr>
          <a:xfrm>
            <a:off x="6062472" y="1371600"/>
            <a:ext cx="1325880" cy="64008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/>
          <p:nvPr/>
        </p:nvSpPr>
        <p:spPr>
          <a:xfrm>
            <a:off x="6062472" y="14630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FF9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117336" y="1920240"/>
            <a:ext cx="12161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FF7"/>
                </a:solidFill>
              </a:rPr>
              <a:t>Feature Extraction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498080" y="1371600"/>
            <a:ext cx="1325880" cy="132588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37" name="Shape 35"/>
          <p:cNvSpPr/>
          <p:nvPr/>
        </p:nvSpPr>
        <p:spPr>
          <a:xfrm>
            <a:off x="7498080" y="1371600"/>
            <a:ext cx="1325880" cy="64008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/>
          <p:nvPr/>
        </p:nvSpPr>
        <p:spPr>
          <a:xfrm>
            <a:off x="7498080" y="14630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FF9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552944" y="1920240"/>
            <a:ext cx="12161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FF7"/>
                </a:solidFill>
              </a:rPr>
              <a:t>URL Validation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2926080"/>
            <a:ext cx="1325880" cy="132588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41" name="Shape 39"/>
          <p:cNvSpPr/>
          <p:nvPr/>
        </p:nvSpPr>
        <p:spPr>
          <a:xfrm>
            <a:off x="320040" y="2926080"/>
            <a:ext cx="1325880" cy="64008"/>
          </a:xfrm>
          <a:prstGeom prst="rect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2" name="Text 40"/>
          <p:cNvSpPr/>
          <p:nvPr/>
        </p:nvSpPr>
        <p:spPr>
          <a:xfrm>
            <a:off x="320040" y="301752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D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374904" y="3474720"/>
            <a:ext cx="12161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FF7"/>
                </a:solidFill>
              </a:rPr>
              <a:t>Classification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755648" y="2926080"/>
            <a:ext cx="1325880" cy="132588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45" name="Shape 43"/>
          <p:cNvSpPr/>
          <p:nvPr/>
        </p:nvSpPr>
        <p:spPr>
          <a:xfrm>
            <a:off x="1755648" y="2926080"/>
            <a:ext cx="1325880" cy="64008"/>
          </a:xfrm>
          <a:prstGeom prst="rect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6" name="Text 44"/>
          <p:cNvSpPr/>
          <p:nvPr/>
        </p:nvSpPr>
        <p:spPr>
          <a:xfrm>
            <a:off x="1755648" y="301752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D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810512" y="3474720"/>
            <a:ext cx="12161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FF7"/>
                </a:solidFill>
              </a:rPr>
              <a:t>Explainability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191256" y="2926080"/>
            <a:ext cx="1325880" cy="132588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49" name="Shape 47"/>
          <p:cNvSpPr/>
          <p:nvPr/>
        </p:nvSpPr>
        <p:spPr>
          <a:xfrm>
            <a:off x="3191256" y="2926080"/>
            <a:ext cx="13258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0" name="Text 48"/>
          <p:cNvSpPr/>
          <p:nvPr/>
        </p:nvSpPr>
        <p:spPr>
          <a:xfrm>
            <a:off x="3191256" y="301752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3246120" y="3474720"/>
            <a:ext cx="12161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FF7"/>
                </a:solidFill>
              </a:rPr>
              <a:t>Thresholding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626864" y="2926080"/>
            <a:ext cx="1325880" cy="132588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53" name="Shape 51"/>
          <p:cNvSpPr/>
          <p:nvPr/>
        </p:nvSpPr>
        <p:spPr>
          <a:xfrm>
            <a:off x="4626864" y="2926080"/>
            <a:ext cx="13258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4" name="Text 52"/>
          <p:cNvSpPr/>
          <p:nvPr/>
        </p:nvSpPr>
        <p:spPr>
          <a:xfrm>
            <a:off x="4626864" y="301752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4681728" y="3474720"/>
            <a:ext cx="12161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FF7"/>
                </a:solidFill>
              </a:rPr>
              <a:t>Persistence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062472" y="2926080"/>
            <a:ext cx="1325880" cy="132588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57" name="Shape 55"/>
          <p:cNvSpPr/>
          <p:nvPr/>
        </p:nvSpPr>
        <p:spPr>
          <a:xfrm>
            <a:off x="6062472" y="2926080"/>
            <a:ext cx="1325880" cy="640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8" name="Text 56"/>
          <p:cNvSpPr/>
          <p:nvPr/>
        </p:nvSpPr>
        <p:spPr>
          <a:xfrm>
            <a:off x="6062472" y="301752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92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6117336" y="3474720"/>
            <a:ext cx="12161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FF7"/>
                </a:solidFill>
              </a:rPr>
              <a:t>Alerting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498080" y="2926080"/>
            <a:ext cx="1325880" cy="132588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61" name="Shape 59"/>
          <p:cNvSpPr/>
          <p:nvPr/>
        </p:nvSpPr>
        <p:spPr>
          <a:xfrm>
            <a:off x="7498080" y="2926080"/>
            <a:ext cx="1325880" cy="64008"/>
          </a:xfrm>
          <a:prstGeom prst="rect">
            <a:avLst/>
          </a:prstGeom>
          <a:solidFill>
            <a:srgbClr val="7A9EC0"/>
          </a:solidFill>
          <a:ln w="12700">
            <a:solidFill>
              <a:srgbClr val="7A9EC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2" name="Text 60"/>
          <p:cNvSpPr/>
          <p:nvPr/>
        </p:nvSpPr>
        <p:spPr>
          <a:xfrm>
            <a:off x="7498080" y="301752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A9E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7552944" y="3474720"/>
            <a:ext cx="12161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FF7"/>
                </a:solidFill>
              </a:rPr>
              <a:t>Logging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D4FF"/>
                </a:solidFill>
              </a:rPr>
              <a:t>Threshold: ≥0.85 → Quarantine   |   0.60–0.84 → Analyst Review   |   &lt;0.60 → Deliver as Ham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Classical ML Models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502920" y="1005840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457201" y="101269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9EC0"/>
                </a:solidFill>
              </a:rPr>
              <a:t>Scikit-learn baseline — fast, interpretable, production-ready</a:t>
            </a:r>
            <a:endParaRPr lang="en-US" sz="13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029200" y="1325880"/>
          <a:ext cx="38404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365760" y="1371600"/>
            <a:ext cx="4389120" cy="749808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8" name="Shape 15"/>
          <p:cNvSpPr/>
          <p:nvPr/>
        </p:nvSpPr>
        <p:spPr>
          <a:xfrm>
            <a:off x="365760" y="1371600"/>
            <a:ext cx="64008" cy="749808"/>
          </a:xfrm>
          <a:prstGeom prst="rect">
            <a:avLst/>
          </a:prstGeom>
          <a:solidFill>
            <a:srgbClr val="7AB3E0"/>
          </a:solidFill>
          <a:ln w="12700">
            <a:solidFill>
              <a:srgbClr val="7AB3E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Text 16"/>
          <p:cNvSpPr/>
          <p:nvPr/>
        </p:nvSpPr>
        <p:spPr>
          <a:xfrm>
            <a:off x="530352" y="142646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B3E0"/>
                </a:solidFill>
              </a:rPr>
              <a:t>Naive Bayes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926080" y="1508760"/>
            <a:ext cx="822960" cy="256032"/>
          </a:xfrm>
          <a:prstGeom prst="rect">
            <a:avLst/>
          </a:prstGeom>
          <a:solidFill>
            <a:srgbClr val="7AB3E0">
              <a:alpha val="25000"/>
            </a:srgbClr>
          </a:solidFill>
          <a:ln w="12700">
            <a:solidFill>
              <a:srgbClr val="7AB3E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1" name="Text 18"/>
          <p:cNvSpPr/>
          <p:nvPr/>
        </p:nvSpPr>
        <p:spPr>
          <a:xfrm>
            <a:off x="2926080" y="15087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B3E0"/>
                </a:solidFill>
              </a:rPr>
              <a:t>92–95%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30352" y="1773936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EC0"/>
                </a:solidFill>
              </a:rPr>
              <a:t>Baseline TF-IDF; fast training; highly interpretable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65760" y="2221992"/>
            <a:ext cx="4389120" cy="749808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4" name="Shape 21"/>
          <p:cNvSpPr/>
          <p:nvPr/>
        </p:nvSpPr>
        <p:spPr>
          <a:xfrm>
            <a:off x="365760" y="2221992"/>
            <a:ext cx="64008" cy="74980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5" name="Text 22"/>
          <p:cNvSpPr/>
          <p:nvPr/>
        </p:nvSpPr>
        <p:spPr>
          <a:xfrm>
            <a:off x="530352" y="227685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8DEF"/>
                </a:solidFill>
              </a:rPr>
              <a:t>Logistic Regression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2926080" y="2359152"/>
            <a:ext cx="822960" cy="256032"/>
          </a:xfrm>
          <a:prstGeom prst="rect">
            <a:avLst/>
          </a:prstGeom>
          <a:solidFill>
            <a:srgbClr val="5B8DEF">
              <a:alpha val="25000"/>
            </a:srgbClr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7" name="Text 24"/>
          <p:cNvSpPr/>
          <p:nvPr/>
        </p:nvSpPr>
        <p:spPr>
          <a:xfrm>
            <a:off x="2926080" y="23591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8DEF"/>
                </a:solidFill>
              </a:rPr>
              <a:t>94–96%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30352" y="2624328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EC0"/>
                </a:solidFill>
              </a:rPr>
              <a:t>Linear boundary on TF-IDF; well-calibrated probabilities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65760" y="3072384"/>
            <a:ext cx="4389120" cy="749808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30" name="Shape 27"/>
          <p:cNvSpPr/>
          <p:nvPr/>
        </p:nvSpPr>
        <p:spPr>
          <a:xfrm>
            <a:off x="365760" y="3072384"/>
            <a:ext cx="64008" cy="7498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1" name="Text 28"/>
          <p:cNvSpPr/>
          <p:nvPr/>
        </p:nvSpPr>
        <p:spPr>
          <a:xfrm>
            <a:off x="530352" y="312724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2926080" y="3209544"/>
            <a:ext cx="822960" cy="256032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3" name="Text 30"/>
          <p:cNvSpPr/>
          <p:nvPr/>
        </p:nvSpPr>
        <p:spPr>
          <a:xfrm>
            <a:off x="2926080" y="320954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</a:rPr>
              <a:t>97–98%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30352" y="3474720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EC0"/>
                </a:solidFill>
              </a:rPr>
              <a:t>Mixed features (text + structural); SHAP explainability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365760" y="3922776"/>
            <a:ext cx="4389120" cy="749808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36" name="Shape 33"/>
          <p:cNvSpPr/>
          <p:nvPr/>
        </p:nvSpPr>
        <p:spPr>
          <a:xfrm>
            <a:off x="365760" y="3922776"/>
            <a:ext cx="64008" cy="749808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7" name="Text 34"/>
          <p:cNvSpPr/>
          <p:nvPr/>
        </p:nvSpPr>
        <p:spPr>
          <a:xfrm>
            <a:off x="530352" y="39776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9F"/>
                </a:solidFill>
              </a:rPr>
              <a:t>XGBoost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2926080" y="4059936"/>
            <a:ext cx="822960" cy="256032"/>
          </a:xfrm>
          <a:prstGeom prst="rect">
            <a:avLst/>
          </a:prstGeom>
          <a:solidFill>
            <a:srgbClr val="00FF9F">
              <a:alpha val="25000"/>
            </a:srgbClr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9" name="Text 36"/>
          <p:cNvSpPr/>
          <p:nvPr/>
        </p:nvSpPr>
        <p:spPr>
          <a:xfrm>
            <a:off x="2926080" y="40599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9F"/>
                </a:solidFill>
              </a:rPr>
              <a:t>97–99%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30352" y="4325112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EC0"/>
                </a:solidFill>
              </a:rPr>
              <a:t>Highest accuracy on tabular vectors; handles class imbalance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Pre-trained NLP Models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502920" y="1005840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438912" y="101498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9EC0"/>
                </a:solidFill>
              </a:rPr>
              <a:t>Transformer-based approaches for semantic understanding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1371600"/>
            <a:ext cx="2011680" cy="329184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7" name="Shape 15"/>
          <p:cNvSpPr/>
          <p:nvPr/>
        </p:nvSpPr>
        <p:spPr>
          <a:xfrm>
            <a:off x="320040" y="1371600"/>
            <a:ext cx="201168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/>
          <p:nvPr/>
        </p:nvSpPr>
        <p:spPr>
          <a:xfrm>
            <a:off x="411480" y="15087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BERT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2029968"/>
            <a:ext cx="1737360" cy="292608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457200" y="20299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</a:rPr>
              <a:t>Transformer Encoder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29768" y="2450592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FF7"/>
                </a:solidFill>
              </a:rPr>
              <a:t>Fine-tune on phishing corpus; understands context and semantic nuance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468880" y="1371600"/>
            <a:ext cx="2011680" cy="329184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3" name="Shape 21"/>
          <p:cNvSpPr/>
          <p:nvPr/>
        </p:nvSpPr>
        <p:spPr>
          <a:xfrm>
            <a:off x="2468880" y="1371600"/>
            <a:ext cx="2011680" cy="6400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2560320" y="15087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8D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DistilBERT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2606040" y="2029968"/>
            <a:ext cx="1737360" cy="292608"/>
          </a:xfrm>
          <a:prstGeom prst="rect">
            <a:avLst/>
          </a:prstGeom>
          <a:solidFill>
            <a:srgbClr val="5B8DEF">
              <a:alpha val="20000"/>
            </a:srgbClr>
          </a:solidFill>
          <a:ln w="12700">
            <a:solidFill>
              <a:srgbClr val="5B8DE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/>
          <p:nvPr/>
        </p:nvSpPr>
        <p:spPr>
          <a:xfrm>
            <a:off x="2606040" y="20299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8DEF"/>
                </a:solidFill>
              </a:rPr>
              <a:t>Distilled Transformer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78608" y="2450592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FF7"/>
                </a:solidFill>
              </a:rPr>
              <a:t>40% smaller; 97% of BERT accuracy — preferred for resource-constrained environments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17720" y="1371600"/>
            <a:ext cx="2011680" cy="329184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9" name="Shape 27"/>
          <p:cNvSpPr/>
          <p:nvPr/>
        </p:nvSpPr>
        <p:spPr>
          <a:xfrm>
            <a:off x="4617720" y="1371600"/>
            <a:ext cx="2011680" cy="64008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/>
          <p:nvPr/>
        </p:nvSpPr>
        <p:spPr>
          <a:xfrm>
            <a:off x="4709160" y="15087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FF9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RoBERTa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754880" y="2029968"/>
            <a:ext cx="1737360" cy="292608"/>
          </a:xfrm>
          <a:prstGeom prst="rect">
            <a:avLst/>
          </a:prstGeom>
          <a:solidFill>
            <a:srgbClr val="00FF9F">
              <a:alpha val="20000"/>
            </a:srgbClr>
          </a:solidFill>
          <a:ln w="12700">
            <a:solidFill>
              <a:srgbClr val="00FF9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/>
          <p:nvPr/>
        </p:nvSpPr>
        <p:spPr>
          <a:xfrm>
            <a:off x="4754880" y="20299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FF9F"/>
                </a:solidFill>
              </a:rPr>
              <a:t>Optimised BERT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27448" y="2450592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FF7"/>
                </a:solidFill>
              </a:rPr>
              <a:t>Improved pre-training; SOTA on many NLP benchmarks; robust to LLM-generated phishing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766560" y="1371600"/>
            <a:ext cx="2011680" cy="329184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35" name="Shape 33"/>
          <p:cNvSpPr/>
          <p:nvPr/>
        </p:nvSpPr>
        <p:spPr>
          <a:xfrm>
            <a:off x="6766560" y="1371600"/>
            <a:ext cx="201168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6" name="Text 34"/>
          <p:cNvSpPr/>
          <p:nvPr/>
        </p:nvSpPr>
        <p:spPr>
          <a:xfrm>
            <a:off x="6858000" y="15087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SetFit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903720" y="2029968"/>
            <a:ext cx="1737360" cy="292608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/>
          <p:nvPr/>
        </p:nvSpPr>
        <p:spPr>
          <a:xfrm>
            <a:off x="6903720" y="20299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78BFA"/>
                </a:solidFill>
              </a:rPr>
              <a:t>Few-Shot Sentence Transformer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76288" y="2450592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FF7"/>
                </a:solidFill>
              </a:rPr>
              <a:t>High accuracy with as few as 8 labelled examples per class — ideal for novel attack variants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0A1E35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41" name="Text 39"/>
          <p:cNvSpPr/>
          <p:nvPr/>
        </p:nvSpPr>
        <p:spPr>
          <a:xfrm>
            <a:off x="50292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0FF9F"/>
                </a:solidFill>
              </a:rPr>
              <a:t>★  Recommended: TF-IDF + Random Forest baseline · DistilBERT fine-tuned on phishing corpus · BeautifulSoup · SQLite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Datasets &amp; Feature Schema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502920" y="1005840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438776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9EC0"/>
                </a:solidFill>
              </a:rPr>
              <a:t>Training sources and the complete feature vector definition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1371600"/>
            <a:ext cx="8412480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457200" y="13716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E1A"/>
                </a:solidFill>
              </a:rPr>
              <a:t>Dataset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137160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E1A"/>
                </a:solidFill>
              </a:rPr>
              <a:t>Size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137160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E1A"/>
                </a:solidFill>
              </a:rPr>
              <a:t>Phish 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0" y="13716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E1A"/>
                </a:solidFill>
              </a:rPr>
              <a:t>Notes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1783080"/>
            <a:ext cx="8412480" cy="50292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/>
          <p:nvPr/>
        </p:nvSpPr>
        <p:spPr>
          <a:xfrm>
            <a:off x="502920" y="1783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</a:rPr>
              <a:t>SpamAssassin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77440" y="178308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FF7"/>
                </a:solidFill>
              </a:rPr>
              <a:t>~6 000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178308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9F"/>
                </a:solidFill>
              </a:rPr>
              <a:t>31%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51960" y="17830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EC0"/>
                </a:solidFill>
              </a:rPr>
              <a:t>Classic benchmark; mixed spam, phishing &amp; ham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331720"/>
            <a:ext cx="8412480" cy="502920"/>
          </a:xfrm>
          <a:prstGeom prst="rect">
            <a:avLst/>
          </a:prstGeom>
          <a:solidFill>
            <a:srgbClr val="111C2F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/>
          <p:nvPr/>
        </p:nvSpPr>
        <p:spPr>
          <a:xfrm>
            <a:off x="502920" y="2331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</a:rPr>
              <a:t>Enron Email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77440" y="23317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FF7"/>
                </a:solidFill>
              </a:rPr>
              <a:t>~500 000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91840" y="23317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9F"/>
                </a:solidFill>
              </a:rPr>
              <a:t>~10%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51960" y="23317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EC0"/>
                </a:solidFill>
              </a:rPr>
              <a:t>Real corporate ham baseline; needs phishing injection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2880360"/>
            <a:ext cx="8412480" cy="50292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/>
          <p:nvPr/>
        </p:nvSpPr>
        <p:spPr>
          <a:xfrm>
            <a:off x="502920" y="2880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</a:rPr>
              <a:t>CEAS 2008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377440" y="288036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FF7"/>
                </a:solidFill>
              </a:rPr>
              <a:t>~38 000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91840" y="288036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9F"/>
                </a:solidFill>
              </a:rPr>
              <a:t>50%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51960" y="28803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EC0"/>
                </a:solidFill>
              </a:rPr>
              <a:t>Balanced spam/ham corpus from CEAS challenge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429000"/>
            <a:ext cx="8412480" cy="502920"/>
          </a:xfrm>
          <a:prstGeom prst="rect">
            <a:avLst/>
          </a:prstGeom>
          <a:solidFill>
            <a:srgbClr val="111C2F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37" name="Text 35"/>
          <p:cNvSpPr/>
          <p:nvPr/>
        </p:nvSpPr>
        <p:spPr>
          <a:xfrm>
            <a:off x="502920" y="3429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</a:rPr>
              <a:t>OpenPhish / Phishing Pot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377439" y="3429000"/>
            <a:ext cx="96011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FF7"/>
                </a:solidFill>
              </a:rPr>
              <a:t>Continuous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91840" y="34290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9F"/>
                </a:solidFill>
              </a:rPr>
              <a:t>100%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251960" y="34290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EC0"/>
                </a:solidFill>
              </a:rPr>
              <a:t>Live feed; LLM-generated phishing samples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3977640"/>
            <a:ext cx="8412480" cy="50292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42" name="Text 40"/>
          <p:cNvSpPr/>
          <p:nvPr/>
        </p:nvSpPr>
        <p:spPr>
          <a:xfrm>
            <a:off x="502920" y="3977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</a:rPr>
              <a:t>Ling-Spam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377440" y="39776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FF7"/>
                </a:solidFill>
              </a:rPr>
              <a:t>2 893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91840" y="39776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9F"/>
                </a:solidFill>
              </a:rPr>
              <a:t>16%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251960" y="39776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EC0"/>
                </a:solidFill>
              </a:rPr>
              <a:t>Academic mailing-list; evaluates false-positive rate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A9EC0"/>
                </a:solidFill>
              </a:rPr>
              <a:t>Feature Vector includes 24 fields: message_id · label · confidence_score · sender_mismatch · dkim/spf/dmarc_pass · urgency_score · url_count · suspicious_url_count · html_hidden_text · attachment_risk · top_shap_features · analyst_override + more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E2E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811294" y="209373"/>
            <a:ext cx="960121" cy="89348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2920" y="3200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16" name="Shape 13"/>
          <p:cNvSpPr/>
          <p:nvPr/>
        </p:nvSpPr>
        <p:spPr>
          <a:xfrm>
            <a:off x="502920" y="1024128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Shape 14"/>
          <p:cNvSpPr/>
          <p:nvPr/>
        </p:nvSpPr>
        <p:spPr>
          <a:xfrm>
            <a:off x="502920" y="1234440"/>
            <a:ext cx="8046720" cy="566928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8" name="Text 15"/>
          <p:cNvSpPr/>
          <p:nvPr/>
        </p:nvSpPr>
        <p:spPr>
          <a:xfrm>
            <a:off x="621792" y="1234440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🛡  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88720" y="1234440"/>
            <a:ext cx="7132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FF9F"/>
                </a:solidFill>
              </a:rPr>
              <a:t>Multi-layer detection</a:t>
            </a:r>
            <a:r>
              <a:rPr lang="en-US" sz="1250" dirty="0">
                <a:solidFill>
                  <a:srgbClr val="E8EFF7"/>
                </a:solidFill>
              </a:rPr>
              <a:t> — combining header auth, URL analysis, NLP, and ML for comprehensive coverage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02920" y="1901952"/>
            <a:ext cx="8046720" cy="566928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1" name="Text 18"/>
          <p:cNvSpPr/>
          <p:nvPr/>
        </p:nvSpPr>
        <p:spPr>
          <a:xfrm>
            <a:off x="621792" y="1901952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🤖  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88720" y="1901952"/>
            <a:ext cx="7132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FF9F"/>
                </a:solidFill>
              </a:rPr>
              <a:t>LLM-aware</a:t>
            </a:r>
            <a:r>
              <a:rPr lang="en-US" sz="1250" dirty="0">
                <a:solidFill>
                  <a:srgbClr val="E8EFF7"/>
                </a:solidFill>
              </a:rPr>
              <a:t> — fine-tuned models counter grammatically perfect AI-generated phishing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02920" y="2569464"/>
            <a:ext cx="8046720" cy="566928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4" name="Text 21"/>
          <p:cNvSpPr/>
          <p:nvPr/>
        </p:nvSpPr>
        <p:spPr>
          <a:xfrm>
            <a:off x="621792" y="2569464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💡  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88720" y="2569464"/>
            <a:ext cx="7132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FF9F"/>
                </a:solidFill>
              </a:rPr>
              <a:t>Explainability built-in</a:t>
            </a:r>
            <a:r>
              <a:rPr lang="en-US" sz="1250" dirty="0">
                <a:solidFill>
                  <a:srgbClr val="E8EFF7"/>
                </a:solidFill>
              </a:rPr>
              <a:t> — SHAP values for every decision, enabling SOC analyst audit and override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02920" y="3236976"/>
            <a:ext cx="8046720" cy="566928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7" name="Text 24"/>
          <p:cNvSpPr/>
          <p:nvPr/>
        </p:nvSpPr>
        <p:spPr>
          <a:xfrm>
            <a:off x="621792" y="3236976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  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188720" y="3236976"/>
            <a:ext cx="7132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FF9F"/>
                </a:solidFill>
              </a:rPr>
              <a:t>Scalable stack</a:t>
            </a:r>
            <a:r>
              <a:rPr lang="en-US" sz="1250" dirty="0">
                <a:solidFill>
                  <a:srgbClr val="E8EFF7"/>
                </a:solidFill>
              </a:rPr>
              <a:t> — DistilBERT + Random Forest balances accuracy &amp; resource efficiency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02920" y="3904488"/>
            <a:ext cx="8046720" cy="566928"/>
          </a:xfrm>
          <a:prstGeom prst="rect">
            <a:avLst/>
          </a:prstGeom>
          <a:solidFill>
            <a:srgbClr val="1A254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30" name="Text 27"/>
          <p:cNvSpPr/>
          <p:nvPr/>
        </p:nvSpPr>
        <p:spPr>
          <a:xfrm>
            <a:off x="621792" y="3904488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  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188720" y="3904488"/>
            <a:ext cx="7132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FF9F"/>
                </a:solidFill>
              </a:rPr>
              <a:t>Rich feature schema</a:t>
            </a:r>
            <a:r>
              <a:rPr lang="en-US" sz="1250" dirty="0">
                <a:solidFill>
                  <a:srgbClr val="E8EFF7"/>
                </a:solidFill>
              </a:rPr>
              <a:t> — 24 structured fields covering headers, body, URLs, attachments, and metadata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941</Words>
  <Application>Microsoft Office PowerPoint</Application>
  <PresentationFormat>On-screen Show (16:9)</PresentationFormat>
  <Paragraphs>210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Phishing Detector</dc:title>
  <dc:subject>PptxGenJS Presentation</dc:subject>
  <dc:creator>PptxGenJS</dc:creator>
  <cp:lastModifiedBy>Mallek AMMAR</cp:lastModifiedBy>
  <cp:revision>2</cp:revision>
  <dcterms:created xsi:type="dcterms:W3CDTF">2026-04-30T21:47:53Z</dcterms:created>
  <dcterms:modified xsi:type="dcterms:W3CDTF">2026-04-30T22:18:13Z</dcterms:modified>
</cp:coreProperties>
</file>